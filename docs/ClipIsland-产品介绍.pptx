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痛点来自对 copyx/tendedero/Sapphire/shotx 四个开源项目源码的逐文件阅读，每条都能指出具体文件位置。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全部数字可复现：RenderTool 离屏渲染、ps RSS 探针、SelfTest 断言。113 项自测覆盖去重/LRU/加密往返/锁定缓冲/热键解析/弹簧收敛。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0B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17236" y="0"/>
            <a:ext cx="1554480" cy="274320"/>
          </a:xfrm>
          <a:prstGeom prst="roundRect">
            <a:avLst>
              <a:gd name="adj" fmla="val 20000"/>
            </a:avLst>
          </a:prstGeom>
          <a:solidFill>
            <a:srgbClr val="22222C"/>
          </a:solidFill>
          <a:ln w="9525">
            <a:solidFill>
              <a:srgbClr val="34343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317236" y="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8989F"/>
                </a:solidFill>
                <a:latin typeface="PingFang SC" pitchFamily="34" charset="0"/>
                <a:ea typeface="PingFang SC"/>
                <a:ea typeface="PingFang SC" pitchFamily="34" charset="-122"/>
                <a:cs typeface="PingFang SC" pitchFamily="34" charset="-120"/>
              </a:rPr>
              <a:t>CLIPISLAND</a:t>
            </a:r>
            <a:endParaRPr lang="en-US" sz="1100" dirty="0"/>
          </a:p>
        </p:txBody>
      </p:sp>
      <p:pic>
        <p:nvPicPr>
          <p:cNvPr id="4" name="Image 0" descr="/tmp/ci-render/strip-exten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488436" y="566928"/>
            <a:ext cx="5212080" cy="41605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02920" y="1371600"/>
            <a:ext cx="6766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5F5F7"/>
                </a:solidFill>
                <a:latin typeface="PingFang SC" pitchFamily="34" charset="0"/>
                <a:ea typeface="PingFang SC"/>
                <a:ea typeface="PingFang SC" pitchFamily="34" charset="-122"/>
                <a:cs typeface="PingFang SC" pitchFamily="34" charset="-120"/>
              </a:rPr>
              <a:t>ClipIsland</a:t>
            </a:r>
            <a:endParaRPr lang="en-US" sz="6000" dirty="0"/>
          </a:p>
        </p:txBody>
      </p:sp>
      <p:sp>
        <p:nvSpPr>
          <p:cNvPr id="6" name="Text 3"/>
          <p:cNvSpPr/>
          <p:nvPr/>
        </p:nvSpPr>
        <p:spPr>
          <a:xfrm>
            <a:off x="502920" y="2487168"/>
            <a:ext cx="6583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A84FF"/>
                </a:solidFill>
                <a:latin typeface="PingFang SC" pitchFamily="34" charset="0"/>
                <a:ea typeface="PingFang SC"/>
                <a:ea typeface="PingFang SC" pitchFamily="34" charset="-122"/>
                <a:cs typeface="PingFang SC" pitchFamily="34" charset="-120"/>
              </a:rPr>
              <a:t>把 MacBook 的刘海，变成一台随叫随到的效率岛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502920" y="3017520"/>
            <a:ext cx="6583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8989F"/>
                </a:solidFill>
                <a:latin typeface="PingFang SC" pitchFamily="34" charset="0"/>
                <a:ea typeface="PingFang SC"/>
                <a:ea typeface="PingFang SC" pitchFamily="34" charset="-122"/>
                <a:cs typeface="PingFang SC" pitchFamily="34" charset="-120"/>
              </a:rPr>
              <a:t>剪贴板历史 · 区域/窗口截图 · 图片标注 · 离线 OCR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502920" y="3703320"/>
            <a:ext cx="1417320" cy="420624"/>
          </a:xfrm>
          <a:prstGeom prst="roundRect">
            <a:avLst>
              <a:gd name="adj" fmla="val 43478"/>
            </a:avLst>
          </a:prstGeom>
          <a:solidFill>
            <a:srgbClr val="17171E"/>
          </a:solidFill>
          <a:ln w="9525">
            <a:solidFill>
              <a:srgbClr val="34343E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02920" y="3703320"/>
            <a:ext cx="1417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F5F7"/>
                </a:solidFill>
                <a:latin typeface="PingFang SC" pitchFamily="34" charset="0"/>
                <a:ea typeface="PingFang SC"/>
                <a:ea typeface="PingFang SC" pitchFamily="34" charset="-122"/>
                <a:cs typeface="PingFang SC" pitchFamily="34" charset="-120"/>
              </a:rPr>
              <a:t>1.6MB 安装包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2103120" y="3703320"/>
            <a:ext cx="1417320" cy="420624"/>
          </a:xfrm>
          <a:prstGeom prst="roundRect">
            <a:avLst>
              <a:gd name="adj" fmla="val 43478"/>
            </a:avLst>
          </a:prstGeom>
          <a:solidFill>
            <a:srgbClr val="17171E"/>
          </a:solidFill>
          <a:ln w="9525">
            <a:solidFill>
              <a:srgbClr val="34343E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2103120" y="3703320"/>
            <a:ext cx="1417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F5F7"/>
                </a:solidFill>
                <a:latin typeface="PingFang SC" pitchFamily="34" charset="0"/>
                <a:ea typeface="PingFang SC"/>
                <a:ea typeface="PingFang SC" pitchFamily="34" charset="-122"/>
                <a:cs typeface="PingFang SC" pitchFamily="34" charset="-120"/>
              </a:rPr>
              <a:t>0 第三方依赖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3703320" y="3703320"/>
            <a:ext cx="1417320" cy="420624"/>
          </a:xfrm>
          <a:prstGeom prst="roundRect">
            <a:avLst>
              <a:gd name="adj" fmla="val 43478"/>
            </a:avLst>
          </a:prstGeom>
          <a:solidFill>
            <a:srgbClr val="17171E"/>
          </a:solidFill>
          <a:ln w="9525">
            <a:solidFill>
              <a:srgbClr val="34343E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3703320" y="3703320"/>
            <a:ext cx="1417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F5F7"/>
                </a:solidFill>
                <a:latin typeface="PingFang SC" pitchFamily="34" charset="0"/>
                <a:ea typeface="PingFang SC"/>
                <a:ea typeface="PingFang SC" pitchFamily="34" charset="-122"/>
                <a:cs typeface="PingFang SC" pitchFamily="34" charset="-120"/>
              </a:rPr>
              <a:t>113 项自测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502920" y="4434840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98989F"/>
                </a:solidFill>
                <a:latin typeface="PingFang SC" pitchFamily="34" charset="0"/>
                <a:ea typeface="PingFang SC"/>
                <a:ea typeface="PingFang SC" pitchFamily="34" charset="-122"/>
                <a:cs typeface="PingFang SC" pitchFamily="34" charset="-120"/>
              </a:rPr>
              <a:t>原生 Swift · SwiftPM 构建 · 完全离线 · 开源 MIT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0A84FF"/>
                </a:solidFill>
                <a:latin typeface="PingFang SC" pitchFamily="34" charset="0"/>
                <a:ea typeface="PingFang SC"/>
                <a:ea typeface="PingFang SC" pitchFamily="34" charset="-122"/>
                <a:cs typeface="PingFang SC" pitchFamily="34" charset="-120"/>
              </a:rPr>
              <a:t>github.com/ZiyueZhang/ClipIsland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7580376" y="1545336"/>
            <a:ext cx="4087368" cy="2706624"/>
          </a:xfrm>
          <a:prstGeom prst="roundRect">
            <a:avLst>
              <a:gd name="adj" fmla="val 2365"/>
            </a:avLst>
          </a:prstGeom>
          <a:solidFill>
            <a:srgbClr val="17171E"/>
          </a:solidFill>
          <a:ln w="12700">
            <a:solidFill>
              <a:srgbClr val="34343E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pic>
        <p:nvPicPr>
          <p:cNvPr id="16" name="Image 1" descr="/tmp/ci-render/panel-lived-dar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35240" y="1600200"/>
            <a:ext cx="3977640" cy="2596896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7635240" y="4315968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8989F"/>
                </a:solidFill>
                <a:latin typeface="PingFang SC" pitchFamily="34" charset="0"/>
                <a:ea typeface="PingFang SC"/>
                <a:ea typeface="PingFang SC" pitchFamily="34" charset="-122"/>
                <a:cs typeface="PingFang SC" pitchFamily="34" charset="-120"/>
              </a:rPr>
              <a:t>展开面板 · 真实渲染</a:t>
            </a:r>
            <a:endParaRPr lang="en-US" sz="1100" dirty="0"/>
          </a:p>
        </p:txBody>
      </p:sp>
      <p:sp>
        <p:nvSpPr>
          <p:cNvPr id="18" name="Text 14"/>
          <p:cNvSpPr/>
          <p:nvPr/>
        </p:nvSpPr>
        <p:spPr>
          <a:xfrm>
            <a:off x="502920" y="63093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8989F"/>
                </a:solidFill>
                <a:latin typeface="PingFang SC" pitchFamily="34" charset="0"/>
                <a:ea typeface="PingFang SC"/>
                <a:ea typeface="PingFang SC" pitchFamily="34" charset="-122"/>
                <a:cs typeface="PingFang SC" pitchFamily="34" charset="-120"/>
              </a:rPr>
              <a:t>2026 · v1.2.1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0B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17236" y="0"/>
            <a:ext cx="1554480" cy="274320"/>
          </a:xfrm>
          <a:prstGeom prst="roundRect">
            <a:avLst>
              <a:gd name="adj" fmla="val 20000"/>
            </a:avLst>
          </a:prstGeom>
          <a:solidFill>
            <a:srgbClr val="22222C"/>
          </a:solidFill>
          <a:ln w="9525">
            <a:solidFill>
              <a:srgbClr val="34343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317236" y="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8989F"/>
                </a:solidFill>
                <a:latin typeface="PingFang SC" pitchFamily="34" charset="0"/>
                <a:ea typeface="PingFang SC"/>
                <a:ea typeface="PingFang SC" pitchFamily="34" charset="-122"/>
                <a:cs typeface="PingFang SC" pitchFamily="34" charset="-120"/>
              </a:rPr>
              <a:t>问题与机会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502920"/>
            <a:ext cx="111831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5F5F7"/>
                </a:solidFill>
                <a:latin typeface="PingFang SC" pitchFamily="34" charset="0"/>
                <a:ea typeface="PingFang SC"/>
                <a:ea typeface="PingFang SC" pitchFamily="34" charset="-122"/>
                <a:cs typeface="PingFang SC" pitchFamily="34" charset="-120"/>
              </a:rPr>
              <a:t>剪贴板这个 40 年的老问题，工具却各缺一半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02920" y="1170432"/>
            <a:ext cx="111831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8989F"/>
                </a:solidFill>
                <a:latin typeface="PingFang SC" pitchFamily="34" charset="0"/>
                <a:ea typeface="PingFang SC"/>
                <a:ea typeface="PingFang SC" pitchFamily="34" charset="-122"/>
                <a:cs typeface="PingFang SC" pitchFamily="34" charset="-120"/>
              </a:rPr>
              <a:t>对 4 个开源竞品的源码级调研结论（docs/COMPARISON.md）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02920" y="1783080"/>
            <a:ext cx="566928" cy="566928"/>
          </a:xfrm>
          <a:prstGeom prst="roundRect">
            <a:avLst>
              <a:gd name="adj" fmla="val 14516"/>
            </a:avLst>
          </a:prstGeom>
          <a:solidFill>
            <a:srgbClr val="17171E"/>
          </a:solidFill>
          <a:ln w="9525">
            <a:solidFill>
              <a:srgbClr val="34343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7830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A84FF"/>
                </a:solidFill>
                <a:latin typeface="PingFang SC" pitchFamily="34" charset="0"/>
                <a:ea typeface="PingFang SC"/>
                <a:ea typeface="PingFang SC" pitchFamily="34" charset="-122"/>
                <a:cs typeface="PingFang SC" pitchFamily="34" charset="-120"/>
              </a:rPr>
              <a:t>1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325880" y="1764792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5F5F7"/>
                </a:solidFill>
                <a:latin typeface="PingFang SC" pitchFamily="34" charset="0"/>
                <a:ea typeface="PingFang SC"/>
                <a:ea typeface="PingFang SC" pitchFamily="34" charset="-122"/>
                <a:cs typeface="PingFang SC" pitchFamily="34" charset="-120"/>
              </a:rPr>
              <a:t>召唤即遮挡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325880" y="2112264"/>
            <a:ext cx="9966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8989F"/>
                </a:solidFill>
                <a:latin typeface="PingFang SC" pitchFamily="34" charset="0"/>
                <a:ea typeface="PingFang SC"/>
                <a:ea typeface="PingFang SC" pitchFamily="34" charset="-122"/>
                <a:cs typeface="PingFang SC" pitchFamily="34" charset="-120"/>
              </a:rPr>
              <a:t>copyx 召唤后底部大面板盖住工作区，且不可调尺寸、不记忆位置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1325880" y="2624328"/>
            <a:ext cx="9966960" cy="0"/>
          </a:xfrm>
          <a:prstGeom prst="line">
            <a:avLst/>
          </a:prstGeom>
          <a:noFill/>
          <a:ln w="9525">
            <a:solidFill>
              <a:srgbClr val="34343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02920" y="2770632"/>
            <a:ext cx="566928" cy="566928"/>
          </a:xfrm>
          <a:prstGeom prst="roundRect">
            <a:avLst>
              <a:gd name="adj" fmla="val 14516"/>
            </a:avLst>
          </a:prstGeom>
          <a:solidFill>
            <a:srgbClr val="17171E"/>
          </a:solidFill>
          <a:ln w="9525">
            <a:solidFill>
              <a:srgbClr val="34343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" y="277063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A84FF"/>
                </a:solidFill>
                <a:latin typeface="PingFang SC" pitchFamily="34" charset="0"/>
                <a:ea typeface="PingFang SC"/>
                <a:ea typeface="PingFang SC" pitchFamily="34" charset="-122"/>
                <a:cs typeface="PingFang SC" pitchFamily="34" charset="-120"/>
              </a:rPr>
              <a:t>2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1325880" y="2752344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5F5F7"/>
                </a:solidFill>
                <a:latin typeface="PingFang SC" pitchFamily="34" charset="0"/>
                <a:ea typeface="PingFang SC"/>
                <a:ea typeface="PingFang SC" pitchFamily="34" charset="-122"/>
                <a:cs typeface="PingFang SC" pitchFamily="34" charset="-120"/>
              </a:rPr>
              <a:t>刘海在浪费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1325880" y="3099816"/>
            <a:ext cx="9966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8989F"/>
                </a:solidFill>
                <a:latin typeface="PingFang SC" pitchFamily="34" charset="0"/>
                <a:ea typeface="PingFang SC"/>
                <a:ea typeface="PingFang SC" pitchFamily="34" charset="-122"/>
                <a:cs typeface="PingFang SC" pitchFamily="34" charset="-120"/>
              </a:rPr>
              <a:t>刘海屏 Mac 的默认状态是“一条黑洞”，Nook X 等闭源工具功能杂而重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1325880" y="3611880"/>
            <a:ext cx="9966960" cy="0"/>
          </a:xfrm>
          <a:prstGeom prst="line">
            <a:avLst/>
          </a:prstGeom>
          <a:noFill/>
          <a:ln w="9525">
            <a:solidFill>
              <a:srgbClr val="34343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02920" y="3758184"/>
            <a:ext cx="566928" cy="566928"/>
          </a:xfrm>
          <a:prstGeom prst="roundRect">
            <a:avLst>
              <a:gd name="adj" fmla="val 14516"/>
            </a:avLst>
          </a:prstGeom>
          <a:solidFill>
            <a:srgbClr val="17171E"/>
          </a:solidFill>
          <a:ln w="9525">
            <a:solidFill>
              <a:srgbClr val="34343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2920" y="3758184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A84FF"/>
                </a:solidFill>
                <a:latin typeface="PingFang SC" pitchFamily="34" charset="0"/>
                <a:ea typeface="PingFang SC"/>
                <a:ea typeface="PingFang SC" pitchFamily="34" charset="-122"/>
                <a:cs typeface="PingFang SC" pitchFamily="34" charset="-120"/>
              </a:rPr>
              <a:t>3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1325880" y="3739896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5F5F7"/>
                </a:solidFill>
                <a:latin typeface="PingFang SC" pitchFamily="34" charset="0"/>
                <a:ea typeface="PingFang SC"/>
                <a:ea typeface="PingFang SC" pitchFamily="34" charset="-122"/>
                <a:cs typeface="PingFang SC" pitchFamily="34" charset="-120"/>
              </a:rPr>
              <a:t>工具箱太散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1325880" y="4087368"/>
            <a:ext cx="9966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8989F"/>
                </a:solidFill>
                <a:latin typeface="PingFang SC" pitchFamily="34" charset="0"/>
                <a:ea typeface="PingFang SC"/>
                <a:ea typeface="PingFang SC" pitchFamily="34" charset="-122"/>
                <a:cs typeface="PingFang SC" pitchFamily="34" charset="-120"/>
              </a:rPr>
              <a:t>截图、标注、OCR、取色通常要 3–4 个常驻应用，菜单栏挤满图标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1325880" y="4599432"/>
            <a:ext cx="9966960" cy="0"/>
          </a:xfrm>
          <a:prstGeom prst="line">
            <a:avLst/>
          </a:prstGeom>
          <a:noFill/>
          <a:ln w="9525">
            <a:solidFill>
              <a:srgbClr val="34343E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02920" y="4745736"/>
            <a:ext cx="566928" cy="566928"/>
          </a:xfrm>
          <a:prstGeom prst="roundRect">
            <a:avLst>
              <a:gd name="adj" fmla="val 14516"/>
            </a:avLst>
          </a:prstGeom>
          <a:solidFill>
            <a:srgbClr val="17171E"/>
          </a:solidFill>
          <a:ln w="9525">
            <a:solidFill>
              <a:srgbClr val="34343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2920" y="474573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A84FF"/>
                </a:solidFill>
                <a:latin typeface="PingFang SC" pitchFamily="34" charset="0"/>
                <a:ea typeface="PingFang SC"/>
                <a:ea typeface="PingFang SC" pitchFamily="34" charset="-122"/>
                <a:cs typeface="PingFang SC" pitchFamily="34" charset="-120"/>
              </a:rPr>
              <a:t>4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1325880" y="4727448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5F5F7"/>
                </a:solidFill>
                <a:latin typeface="PingFang SC" pitchFamily="34" charset="0"/>
                <a:ea typeface="PingFang SC"/>
                <a:ea typeface="PingFang SC" pitchFamily="34" charset="-122"/>
                <a:cs typeface="PingFang SC" pitchFamily="34" charset="-120"/>
              </a:rPr>
              <a:t>隐私是宣传语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1325880" y="5074920"/>
            <a:ext cx="9966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8989F"/>
                </a:solidFill>
                <a:latin typeface="PingFang SC" pitchFamily="34" charset="0"/>
                <a:ea typeface="PingFang SC"/>
                <a:ea typeface="PingFang SC" pitchFamily="34" charset="-122"/>
                <a:cs typeface="PingFang SC" pitchFamily="34" charset="-120"/>
              </a:rPr>
              <a:t>copyx 的敏感内容过滤在源码里是死代码：密码管理器内容照样明文入库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0B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17236" y="0"/>
            <a:ext cx="1554480" cy="274320"/>
          </a:xfrm>
          <a:prstGeom prst="roundRect">
            <a:avLst>
              <a:gd name="adj" fmla="val 20000"/>
            </a:avLst>
          </a:prstGeom>
          <a:solidFill>
            <a:srgbClr val="22222C"/>
          </a:solidFill>
          <a:ln w="9525">
            <a:solidFill>
              <a:srgbClr val="34343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317236" y="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8989F"/>
                </a:solidFill>
                <a:latin typeface="PingFang SC" pitchFamily="34" charset="0"/>
                <a:ea typeface="PingFang SC"/>
                <a:ea typeface="PingFang SC" pitchFamily="34" charset="-122"/>
                <a:cs typeface="PingFang SC" pitchFamily="34" charset="-120"/>
              </a:rPr>
              <a:t>方案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502920"/>
            <a:ext cx="111831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5F5F7"/>
                </a:solidFill>
                <a:latin typeface="PingFang SC" pitchFamily="34" charset="0"/>
                <a:ea typeface="PingFang SC"/>
                <a:ea typeface="PingFang SC" pitchFamily="34" charset="-122"/>
                <a:cs typeface="PingFang SC" pitchFamily="34" charset="-120"/>
              </a:rPr>
              <a:t>一个常驻刘海的原生效率岛，四个工具合一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02920" y="1170432"/>
            <a:ext cx="111831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8989F"/>
                </a:solidFill>
                <a:latin typeface="PingFang SC" pitchFamily="34" charset="0"/>
                <a:ea typeface="PingFang SC"/>
                <a:ea typeface="PingFang SC" pitchFamily="34" charset="-122"/>
                <a:cs typeface="PingFang SC" pitchFamily="34" charset="-120"/>
              </a:rPr>
              <a:t>鼠标停在菜单栏任意位置即滑出面板，Esc 即收起——平时零占用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48056" y="1728216"/>
            <a:ext cx="6144768" cy="4041648"/>
          </a:xfrm>
          <a:prstGeom prst="roundRect">
            <a:avLst>
              <a:gd name="adj" fmla="val 1584"/>
            </a:avLst>
          </a:prstGeom>
          <a:solidFill>
            <a:srgbClr val="17171E"/>
          </a:solidFill>
          <a:ln w="12700">
            <a:solidFill>
              <a:srgbClr val="34343E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pic>
        <p:nvPicPr>
          <p:cNvPr id="7" name="Image 0" descr="/tmp/ci-render/panel-lived-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783080"/>
            <a:ext cx="6035040" cy="39319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02920" y="5852160"/>
            <a:ext cx="6035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8989F"/>
                </a:solidFill>
                <a:latin typeface="PingFang SC" pitchFamily="34" charset="0"/>
                <a:ea typeface="PingFang SC"/>
                <a:ea typeface="PingFang SC" pitchFamily="34" charset="-122"/>
                <a:cs typeface="PingFang SC" pitchFamily="34" charset="-120"/>
              </a:rPr>
              <a:t>展开面板：搜索、类型筛选、直选、预览、置顶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6949440" y="182880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84FF"/>
                </a:solidFill>
                <a:latin typeface="PingFang SC" pitchFamily="34" charset="0"/>
                <a:ea typeface="PingFang SC"/>
                <a:ea typeface="PingFang SC" pitchFamily="34" charset="-122"/>
                <a:cs typeface="PingFang SC" pitchFamily="34" charset="-120"/>
              </a:rPr>
              <a:t>剪贴板历史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6949440" y="2176272"/>
            <a:ext cx="4754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8989F"/>
                </a:solidFill>
                <a:latin typeface="PingFang SC" pitchFamily="34" charset="0"/>
                <a:ea typeface="PingFang SC"/>
                <a:ea typeface="PingFang SC" pitchFamily="34" charset="-122"/>
                <a:cs typeface="PingFang SC" pitchFamily="34" charset="-120"/>
              </a:rPr>
              <a:t>文本/链接/文件/图片全捕获，SHA256 去重，置顶与容量 LRU，即时搜索 + 类型筛选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6949440" y="2907792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84FF"/>
                </a:solidFill>
                <a:latin typeface="PingFang SC" pitchFamily="34" charset="0"/>
                <a:ea typeface="PingFang SC"/>
                <a:ea typeface="PingFang SC" pitchFamily="34" charset="-122"/>
                <a:cs typeface="PingFang SC" pitchFamily="34" charset="-120"/>
              </a:rPr>
              <a:t>截图套件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6949440" y="3255264"/>
            <a:ext cx="4754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8989F"/>
                </a:solidFill>
                <a:latin typeface="PingFang SC" pitchFamily="34" charset="0"/>
                <a:ea typeface="PingFang SC"/>
                <a:ea typeface="PingFang SC" pitchFamily="34" charset="-122"/>
                <a:cs typeface="PingFang SC" pitchFamily="34" charset="-120"/>
              </a:rPr>
              <a:t>⌘⇧6 区域（冻结帧+取色）与 ⌘⇧7 窗口（遮挡无关）两条链路，完成后浮条直达动作</a:t>
            </a:r>
            <a:endParaRPr lang="en-US" sz="1250" dirty="0"/>
          </a:p>
        </p:txBody>
      </p:sp>
      <p:sp>
        <p:nvSpPr>
          <p:cNvPr id="13" name="Text 10"/>
          <p:cNvSpPr/>
          <p:nvPr/>
        </p:nvSpPr>
        <p:spPr>
          <a:xfrm>
            <a:off x="6949440" y="3986784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84FF"/>
                </a:solidFill>
                <a:latin typeface="PingFang SC" pitchFamily="34" charset="0"/>
                <a:ea typeface="PingFang SC"/>
                <a:ea typeface="PingFang SC" pitchFamily="34" charset="-122"/>
                <a:cs typeface="PingFang SC" pitchFamily="34" charset="-120"/>
              </a:rPr>
              <a:t>图片标注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6949440" y="4334256"/>
            <a:ext cx="4754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8989F"/>
                </a:solidFill>
                <a:latin typeface="PingFang SC" pitchFamily="34" charset="0"/>
                <a:ea typeface="PingFang SC"/>
                <a:ea typeface="PingFang SC" pitchFamily="34" charset="-122"/>
                <a:cs typeface="PingFang SC" pitchFamily="34" charset="-120"/>
              </a:rPr>
              <a:t>9 种工具含马赛克/裁剪/高亮，撤销重做，所见即所得导出</a:t>
            </a:r>
            <a:endParaRPr lang="en-US" sz="1250" dirty="0"/>
          </a:p>
        </p:txBody>
      </p:sp>
      <p:sp>
        <p:nvSpPr>
          <p:cNvPr id="15" name="Text 12"/>
          <p:cNvSpPr/>
          <p:nvPr/>
        </p:nvSpPr>
        <p:spPr>
          <a:xfrm>
            <a:off x="6949440" y="5065776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84FF"/>
                </a:solidFill>
                <a:latin typeface="PingFang SC" pitchFamily="34" charset="0"/>
                <a:ea typeface="PingFang SC"/>
                <a:ea typeface="PingFang SC" pitchFamily="34" charset="-122"/>
                <a:cs typeface="PingFang SC" pitchFamily="34" charset="-120"/>
              </a:rPr>
              <a:t>离线 OCR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6949440" y="5413248"/>
            <a:ext cx="4754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8989F"/>
                </a:solidFill>
                <a:latin typeface="PingFang SC" pitchFamily="34" charset="0"/>
                <a:ea typeface="PingFang SC"/>
                <a:ea typeface="PingFang SC" pitchFamily="34" charset="-122"/>
                <a:cs typeface="PingFang SC" pitchFamily="34" charset="-120"/>
              </a:rPr>
              <a:t>系统 Vision 框架中英文识别，不联网、零成本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0B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17236" y="0"/>
            <a:ext cx="1554480" cy="274320"/>
          </a:xfrm>
          <a:prstGeom prst="roundRect">
            <a:avLst>
              <a:gd name="adj" fmla="val 20000"/>
            </a:avLst>
          </a:prstGeom>
          <a:solidFill>
            <a:srgbClr val="22222C"/>
          </a:solidFill>
          <a:ln w="9525">
            <a:solidFill>
              <a:srgbClr val="34343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317236" y="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8989F"/>
                </a:solidFill>
                <a:latin typeface="PingFang SC" pitchFamily="34" charset="0"/>
                <a:ea typeface="PingFang SC"/>
                <a:ea typeface="PingFang SC" pitchFamily="34" charset="-122"/>
                <a:cs typeface="PingFang SC" pitchFamily="34" charset="-120"/>
              </a:rPr>
              <a:t>交互逻辑 ①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502920"/>
            <a:ext cx="111831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5F5F7"/>
                </a:solidFill>
                <a:latin typeface="PingFang SC" pitchFamily="34" charset="0"/>
                <a:ea typeface="PingFang SC"/>
                <a:ea typeface="PingFang SC" pitchFamily="34" charset="-122"/>
                <a:cs typeface="PingFang SC" pitchFamily="34" charset="-120"/>
              </a:rPr>
              <a:t>剪贴板主循环：四次按键完成“复制→召回→粘贴”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02920" y="1170432"/>
            <a:ext cx="111831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8989F"/>
                </a:solidFill>
                <a:latin typeface="PingFang SC" pitchFamily="34" charset="0"/>
                <a:ea typeface="PingFang SC"/>
                <a:ea typeface="PingFang SC" pitchFamily="34" charset="-122"/>
                <a:cs typeface="PingFang SC" pitchFamily="34" charset="-120"/>
              </a:rPr>
              <a:t>键盘全程不离位；数字直选把「搜索+回车」压成一次按键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02920" y="1965960"/>
            <a:ext cx="2514600" cy="1737360"/>
          </a:xfrm>
          <a:prstGeom prst="roundRect">
            <a:avLst>
              <a:gd name="adj" fmla="val 5263"/>
            </a:avLst>
          </a:prstGeom>
          <a:solidFill>
            <a:srgbClr val="17171E"/>
          </a:solidFill>
          <a:ln w="9525">
            <a:solidFill>
              <a:srgbClr val="34343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2103120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A84FF"/>
                </a:solidFill>
                <a:latin typeface="PingFang SC" pitchFamily="34" charset="0"/>
                <a:ea typeface="PingFang SC"/>
                <a:ea typeface="PingFang SC" pitchFamily="34" charset="-122"/>
                <a:cs typeface="PingFang SC" pitchFamily="34" charset="-120"/>
              </a:rPr>
              <a:t>⌘C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502920" y="265176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5F5F7"/>
                </a:solidFill>
                <a:latin typeface="PingFang SC" pitchFamily="34" charset="0"/>
                <a:ea typeface="PingFang SC"/>
                <a:ea typeface="PingFang SC" pitchFamily="34" charset="-122"/>
                <a:cs typeface="PingFang SC" pitchFamily="34" charset="-120"/>
              </a:rPr>
              <a:t>照常复制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67512" y="2999232"/>
            <a:ext cx="2194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8989F"/>
                </a:solidFill>
                <a:latin typeface="PingFang SC" pitchFamily="34" charset="0"/>
                <a:ea typeface="PingFang SC"/>
                <a:ea typeface="PingFang SC" pitchFamily="34" charset="-122"/>
                <a:cs typeface="PingFang SC" pitchFamily="34" charset="-120"/>
              </a:rPr>
              <a:t>0.35s 内捕获入库，重复内容自动置顶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990088" y="2514600"/>
            <a:ext cx="411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98989F"/>
                </a:solidFill>
                <a:latin typeface="PingFang SC" pitchFamily="34" charset="0"/>
                <a:ea typeface="PingFang SC"/>
                <a:ea typeface="PingFang SC" pitchFamily="34" charset="-122"/>
                <a:cs typeface="PingFang SC" pitchFamily="34" charset="-120"/>
              </a:rPr>
              <a:t>→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3364992" y="1965960"/>
            <a:ext cx="2514600" cy="1737360"/>
          </a:xfrm>
          <a:prstGeom prst="roundRect">
            <a:avLst>
              <a:gd name="adj" fmla="val 5263"/>
            </a:avLst>
          </a:prstGeom>
          <a:solidFill>
            <a:srgbClr val="17171E"/>
          </a:solidFill>
          <a:ln w="9525">
            <a:solidFill>
              <a:srgbClr val="34343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64992" y="2103120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A84FF"/>
                </a:solidFill>
                <a:latin typeface="PingFang SC" pitchFamily="34" charset="0"/>
                <a:ea typeface="PingFang SC"/>
                <a:ea typeface="PingFang SC" pitchFamily="34" charset="-122"/>
                <a:cs typeface="PingFang SC" pitchFamily="34" charset="-120"/>
              </a:rPr>
              <a:t>⌘⇧V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3364992" y="265176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5F5F7"/>
                </a:solidFill>
                <a:latin typeface="PingFang SC" pitchFamily="34" charset="0"/>
                <a:ea typeface="PingFang SC"/>
                <a:ea typeface="PingFang SC" pitchFamily="34" charset="-122"/>
                <a:cs typeface="PingFang SC" pitchFamily="34" charset="-120"/>
              </a:rPr>
              <a:t>唤出面板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3529584" y="2999232"/>
            <a:ext cx="2194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8989F"/>
                </a:solidFill>
                <a:latin typeface="PingFang SC" pitchFamily="34" charset="0"/>
                <a:ea typeface="PingFang SC"/>
                <a:ea typeface="PingFang SC" pitchFamily="34" charset="-122"/>
                <a:cs typeface="PingFang SC" pitchFamily="34" charset="-120"/>
              </a:rPr>
              <a:t>或鼠标停在菜单栏任意位置 0.25s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852160" y="2514600"/>
            <a:ext cx="411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98989F"/>
                </a:solidFill>
                <a:latin typeface="PingFang SC" pitchFamily="34" charset="0"/>
                <a:ea typeface="PingFang SC"/>
                <a:ea typeface="PingFang SC" pitchFamily="34" charset="-122"/>
                <a:cs typeface="PingFang SC" pitchFamily="34" charset="-120"/>
              </a:rPr>
              <a:t>→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6227064" y="1965960"/>
            <a:ext cx="2514600" cy="1737360"/>
          </a:xfrm>
          <a:prstGeom prst="roundRect">
            <a:avLst>
              <a:gd name="adj" fmla="val 5263"/>
            </a:avLst>
          </a:prstGeom>
          <a:solidFill>
            <a:srgbClr val="17171E"/>
          </a:solidFill>
          <a:ln w="9525">
            <a:solidFill>
              <a:srgbClr val="34343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227064" y="2103120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A84FF"/>
                </a:solidFill>
                <a:latin typeface="PingFang SC" pitchFamily="34" charset="0"/>
                <a:ea typeface="PingFang SC"/>
                <a:ea typeface="PingFang SC" pitchFamily="34" charset="-122"/>
                <a:cs typeface="PingFang SC" pitchFamily="34" charset="-120"/>
              </a:rPr>
              <a:t>输入/1-9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6227064" y="265176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5F5F7"/>
                </a:solidFill>
                <a:latin typeface="PingFang SC" pitchFamily="34" charset="0"/>
                <a:ea typeface="PingFang SC"/>
                <a:ea typeface="PingFang SC" pitchFamily="34" charset="-122"/>
                <a:cs typeface="PingFang SC" pitchFamily="34" charset="-120"/>
              </a:rPr>
              <a:t>定位内容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391656" y="2999232"/>
            <a:ext cx="2194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8989F"/>
                </a:solidFill>
                <a:latin typeface="PingFang SC" pitchFamily="34" charset="0"/>
                <a:ea typeface="PingFang SC"/>
                <a:ea typeface="PingFang SC" pitchFamily="34" charset="-122"/>
                <a:cs typeface="PingFang SC" pitchFamily="34" charset="-120"/>
              </a:rPr>
              <a:t>输入即搜（中文输入法安全），↑↓ 微调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8714232" y="2514600"/>
            <a:ext cx="411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98989F"/>
                </a:solidFill>
                <a:latin typeface="PingFang SC" pitchFamily="34" charset="0"/>
                <a:ea typeface="PingFang SC"/>
                <a:ea typeface="PingFang SC" pitchFamily="34" charset="-122"/>
                <a:cs typeface="PingFang SC" pitchFamily="34" charset="-120"/>
              </a:rPr>
              <a:t>→</a:t>
            </a:r>
            <a:endParaRPr lang="en-US" sz="2200" dirty="0"/>
          </a:p>
        </p:txBody>
      </p:sp>
      <p:sp>
        <p:nvSpPr>
          <p:cNvPr id="21" name="Shape 19"/>
          <p:cNvSpPr/>
          <p:nvPr/>
        </p:nvSpPr>
        <p:spPr>
          <a:xfrm>
            <a:off x="9089136" y="1965960"/>
            <a:ext cx="2514600" cy="1737360"/>
          </a:xfrm>
          <a:prstGeom prst="roundRect">
            <a:avLst>
              <a:gd name="adj" fmla="val 5263"/>
            </a:avLst>
          </a:prstGeom>
          <a:solidFill>
            <a:srgbClr val="17171E"/>
          </a:solidFill>
          <a:ln w="9525">
            <a:solidFill>
              <a:srgbClr val="34343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089136" y="2103120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A84FF"/>
                </a:solidFill>
                <a:latin typeface="PingFang SC" pitchFamily="34" charset="0"/>
                <a:ea typeface="PingFang SC"/>
                <a:ea typeface="PingFang SC" pitchFamily="34" charset="-122"/>
                <a:cs typeface="PingFang SC" pitchFamily="34" charset="-120"/>
              </a:rPr>
              <a:t>⏎</a:t>
            </a:r>
            <a:endParaRPr lang="en-US" sz="2400" dirty="0"/>
          </a:p>
        </p:txBody>
      </p:sp>
      <p:sp>
        <p:nvSpPr>
          <p:cNvPr id="23" name="Text 21"/>
          <p:cNvSpPr/>
          <p:nvPr/>
        </p:nvSpPr>
        <p:spPr>
          <a:xfrm>
            <a:off x="9089136" y="265176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5F5F7"/>
                </a:solidFill>
                <a:latin typeface="PingFang SC" pitchFamily="34" charset="0"/>
                <a:ea typeface="PingFang SC"/>
                <a:ea typeface="PingFang SC" pitchFamily="34" charset="-122"/>
                <a:cs typeface="PingFang SC" pitchFamily="34" charset="-120"/>
              </a:rPr>
              <a:t>自动粘贴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9253728" y="2999232"/>
            <a:ext cx="2194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8989F"/>
                </a:solidFill>
                <a:latin typeface="PingFang SC" pitchFamily="34" charset="0"/>
                <a:ea typeface="PingFang SC"/>
                <a:ea typeface="PingFang SC" pitchFamily="34" charset="-122"/>
                <a:cs typeface="PingFang SC" pitchFamily="34" charset="-120"/>
              </a:rPr>
              <a:t>写回剪贴板并合成 ⌘V 到原应用；Esc 三级渐进退出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02920" y="41148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F5F7"/>
                </a:solidFill>
                <a:latin typeface="PingFang SC" pitchFamily="34" charset="0"/>
                <a:ea typeface="PingFang SC"/>
                <a:ea typeface="PingFang SC" pitchFamily="34" charset="-122"/>
                <a:cs typeface="PingFang SC" pitchFamily="34" charset="-120"/>
              </a:rPr>
              <a:t>面板内的完整键盘体系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502920" y="4480560"/>
            <a:ext cx="108813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27000" indent="-127000">
              <a:spcAft>
                <a:spcPts val="700"/>
              </a:spcAft>
              <a:buSzPct val="100000"/>
              <a:buChar char="–"/>
            </a:pPr>
            <a:r>
              <a:rPr lang="en-US" sz="1350" dirty="0">
                <a:solidFill>
                  <a:srgbClr val="98989F"/>
                </a:solidFill>
                <a:latin typeface="PingFang SC" pitchFamily="34" charset="0"/>
                <a:ea typeface="PingFang SC"/>
                <a:ea typeface="PingFang SC" pitchFamily="34" charset="-122"/>
                <a:cs typeface="PingFang SC" pitchFamily="34" charset="-120"/>
              </a:rPr>
              <a:t>输入即搜：来源应用名也可检索，类型 chips 一键筛选</a:t>
            </a:r>
            <a:endParaRPr lang="en-US" sz="1350" dirty="0"/>
          </a:p>
          <a:p>
            <a:pPr marL="127000" indent="-127000">
              <a:spcAft>
                <a:spcPts val="700"/>
              </a:spcAft>
              <a:buSzPct val="100000"/>
              <a:buChar char="–"/>
            </a:pPr>
            <a:r>
              <a:rPr lang="en-US" sz="1350" dirty="0">
                <a:solidFill>
                  <a:srgbClr val="98989F"/>
                </a:solidFill>
                <a:latin typeface="PingFang SC" pitchFamily="34" charset="0"/>
                <a:ea typeface="PingFang SC"/>
                <a:ea typeface="PingFang SC" pitchFamily="34" charset="-122"/>
                <a:cs typeface="PingFang SC" pitchFamily="34" charset="-120"/>
              </a:rPr>
              <a:t>1-9 直选即粘贴 · 空格 Quick Look 预览 · 悬停行出现 置顶/编辑/OCR/删除</a:t>
            </a:r>
            <a:endParaRPr lang="en-US" sz="1350" dirty="0"/>
          </a:p>
          <a:p>
            <a:pPr marL="127000" indent="-127000">
              <a:spcAft>
                <a:spcPts val="700"/>
              </a:spcAft>
              <a:buSzPct val="100000"/>
              <a:buChar char="–"/>
            </a:pPr>
            <a:r>
              <a:rPr lang="en-US" sz="1350" dirty="0">
                <a:solidFill>
                  <a:srgbClr val="98989F"/>
                </a:solidFill>
                <a:latin typeface="PingFang SC" pitchFamily="34" charset="0"/>
                <a:ea typeface="PingFang SC"/>
                <a:ea typeface="PingFang SC" pitchFamily="34" charset="-122"/>
                <a:cs typeface="PingFang SC" pitchFamily="34" charset="-120"/>
              </a:rPr>
              <a:t>Esc 三级渐进：清搜索 → 清筛选 → 收面板，随时不迷路</a:t>
            </a:r>
            <a:endParaRPr lang="en-US" sz="1350" dirty="0"/>
          </a:p>
          <a:p>
            <a:pPr marL="127000" indent="-127000">
              <a:spcAft>
                <a:spcPts val="700"/>
              </a:spcAft>
              <a:buSzPct val="100000"/>
              <a:buChar char="–"/>
            </a:pPr>
            <a:r>
              <a:rPr lang="en-US" sz="1350" dirty="0">
                <a:solidFill>
                  <a:srgbClr val="98989F"/>
                </a:solidFill>
                <a:latin typeface="PingFang SC" pitchFamily="34" charset="0"/>
                <a:ea typeface="PingFang SC"/>
                <a:ea typeface="PingFang SC" pitchFamily="34" charset="-122"/>
                <a:cs typeface="PingFang SC" pitchFamily="34" charset="-120"/>
              </a:rPr>
              <a:t>条目可拖出：图片拖到 Finder/邮件即文件，文本拖出即字符串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0B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17236" y="0"/>
            <a:ext cx="1554480" cy="274320"/>
          </a:xfrm>
          <a:prstGeom prst="roundRect">
            <a:avLst>
              <a:gd name="adj" fmla="val 20000"/>
            </a:avLst>
          </a:prstGeom>
          <a:solidFill>
            <a:srgbClr val="22222C"/>
          </a:solidFill>
          <a:ln w="9525">
            <a:solidFill>
              <a:srgbClr val="34343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317236" y="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8989F"/>
                </a:solidFill>
                <a:latin typeface="PingFang SC" pitchFamily="34" charset="0"/>
                <a:ea typeface="PingFang SC"/>
                <a:ea typeface="PingFang SC" pitchFamily="34" charset="-122"/>
                <a:cs typeface="PingFang SC" pitchFamily="34" charset="-120"/>
              </a:rPr>
              <a:t>交互逻辑 ②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502920"/>
            <a:ext cx="111831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5F5F7"/>
                </a:solidFill>
                <a:latin typeface="PingFang SC" pitchFamily="34" charset="0"/>
                <a:ea typeface="PingFang SC"/>
                <a:ea typeface="PingFang SC" pitchFamily="34" charset="-122"/>
                <a:cs typeface="PingFang SC" pitchFamily="34" charset="-120"/>
              </a:rPr>
              <a:t>截图工作流：从按键到可用内容，最少两步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02920" y="1170432"/>
            <a:ext cx="111831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8989F"/>
                </a:solidFill>
                <a:latin typeface="PingFang SC" pitchFamily="34" charset="0"/>
                <a:ea typeface="PingFang SC"/>
                <a:ea typeface="PingFang SC" pitchFamily="34" charset="-122"/>
                <a:cs typeface="PingFang SC" pitchFamily="34" charset="-120"/>
              </a:rPr>
              <a:t>两条捕获链路共用同一套交付管线：历史、浮条、编辑器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02920" y="1783080"/>
            <a:ext cx="6309360" cy="1024128"/>
          </a:xfrm>
          <a:prstGeom prst="roundRect">
            <a:avLst>
              <a:gd name="adj" fmla="val 8929"/>
            </a:avLst>
          </a:prstGeom>
          <a:solidFill>
            <a:srgbClr val="17171E"/>
          </a:solidFill>
          <a:ln w="9525">
            <a:solidFill>
              <a:srgbClr val="34343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1892808"/>
            <a:ext cx="5852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84FF"/>
                </a:solidFill>
                <a:latin typeface="PingFang SC" pitchFamily="34" charset="0"/>
                <a:ea typeface="PingFang SC"/>
                <a:ea typeface="PingFang SC" pitchFamily="34" charset="-122"/>
                <a:cs typeface="PingFang SC" pitchFamily="34" charset="-120"/>
              </a:rPr>
              <a:t>⌘⇧6 区域截图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31520" y="2240280"/>
            <a:ext cx="5852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5F5F7"/>
                </a:solidFill>
                <a:latin typeface="PingFang SC" pitchFamily="34" charset="0"/>
                <a:ea typeface="PingFang SC"/>
                <a:ea typeface="PingFang SC" pitchFamily="34" charset="-122"/>
                <a:cs typeface="PingFang SC" pitchFamily="34" charset="-120"/>
              </a:rPr>
              <a:t>冻结全屏 → 拖框（实时尺寸 + 光标取色 ⌘C）→ 松手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731520" y="2532888"/>
            <a:ext cx="5852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8989F"/>
                </a:solidFill>
                <a:latin typeface="PingFang SC" pitchFamily="34" charset="0"/>
                <a:ea typeface="PingFang SC"/>
                <a:ea typeface="PingFang SC" pitchFamily="34" charset="-122"/>
                <a:cs typeface="PingFang SC" pitchFamily="34" charset="-120"/>
              </a:rPr>
              <a:t>跨屏选区 · ⏎ 整屏 · Esc 取消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02920" y="2971800"/>
            <a:ext cx="6309360" cy="1024128"/>
          </a:xfrm>
          <a:prstGeom prst="roundRect">
            <a:avLst>
              <a:gd name="adj" fmla="val 8929"/>
            </a:avLst>
          </a:prstGeom>
          <a:solidFill>
            <a:srgbClr val="17171E"/>
          </a:solidFill>
          <a:ln w="9525">
            <a:solidFill>
              <a:srgbClr val="34343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" y="3081528"/>
            <a:ext cx="5852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84FF"/>
                </a:solidFill>
                <a:latin typeface="PingFang SC" pitchFamily="34" charset="0"/>
                <a:ea typeface="PingFang SC"/>
                <a:ea typeface="PingFang SC" pitchFamily="34" charset="-122"/>
                <a:cs typeface="PingFang SC" pitchFamily="34" charset="-120"/>
              </a:rPr>
              <a:t>⌘⇧7 窗口截图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731520" y="3429000"/>
            <a:ext cx="5852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5F5F7"/>
                </a:solidFill>
                <a:latin typeface="PingFang SC" pitchFamily="34" charset="0"/>
                <a:ea typeface="PingFang SC"/>
                <a:ea typeface="PingFang SC" pitchFamily="34" charset="-122"/>
                <a:cs typeface="PingFang SC" pitchFamily="34" charset="-120"/>
              </a:rPr>
              <a:t>光标下窗口高亮取景（应用名标签）→ 点击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731520" y="3721608"/>
            <a:ext cx="5852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8989F"/>
                </a:solidFill>
                <a:latin typeface="PingFang SC" pitchFamily="34" charset="0"/>
                <a:ea typeface="PingFang SC"/>
                <a:ea typeface="PingFang SC" pitchFamily="34" charset="-122"/>
                <a:cs typeface="PingFang SC" pitchFamily="34" charset="-120"/>
              </a:rPr>
              <a:t>按窗口号合成，被遮挡也完整；自身窗口自动排除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02920" y="4315968"/>
            <a:ext cx="6309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F5F7"/>
                </a:solidFill>
                <a:latin typeface="PingFang SC" pitchFamily="34" charset="0"/>
                <a:ea typeface="PingFang SC"/>
                <a:ea typeface="PingFang SC" pitchFamily="34" charset="-122"/>
                <a:cs typeface="PingFang SC" pitchFamily="34" charset="-120"/>
              </a:rPr>
              <a:t>完成后：缩略图悬挂刘海 2.5s → 底部浮条三连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02920" y="4681728"/>
            <a:ext cx="6309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27000" indent="-127000">
              <a:spcAft>
                <a:spcPts val="600"/>
              </a:spcAft>
              <a:buSzPct val="100000"/>
              <a:buChar char="–"/>
            </a:pPr>
            <a:r>
              <a:rPr lang="en-US" sz="1250" dirty="0">
                <a:solidFill>
                  <a:srgbClr val="98989F"/>
                </a:solidFill>
                <a:latin typeface="PingFang SC" pitchFamily="34" charset="0"/>
                <a:ea typeface="PingFang SC"/>
                <a:ea typeface="PingFang SC" pitchFamily="34" charset="-122"/>
                <a:cs typeface="PingFang SC" pitchFamily="34" charset="-120"/>
              </a:rPr>
              <a:t>复制（PNG+TIFF 双格式，兼容 Electron 应用）</a:t>
            </a:r>
            <a:endParaRPr lang="en-US" sz="1250" dirty="0"/>
          </a:p>
          <a:p>
            <a:pPr marL="127000" indent="-127000">
              <a:spcAft>
                <a:spcPts val="600"/>
              </a:spcAft>
              <a:buSzPct val="100000"/>
              <a:buChar char="–"/>
            </a:pPr>
            <a:r>
              <a:rPr lang="en-US" sz="1250" dirty="0">
                <a:solidFill>
                  <a:srgbClr val="98989F"/>
                </a:solidFill>
                <a:latin typeface="PingFang SC" pitchFamily="34" charset="0"/>
                <a:ea typeface="PingFang SC"/>
                <a:ea typeface="PingFang SC" pitchFamily="34" charset="-122"/>
                <a:cs typeface="PingFang SC" pitchFamily="34" charset="-120"/>
              </a:rPr>
              <a:t>编辑（9 工具标注器：矩形/椭圆/箭头/画笔/文字/高亮/马赛克/裁剪/选择）</a:t>
            </a:r>
            <a:endParaRPr lang="en-US" sz="1250" dirty="0"/>
          </a:p>
          <a:p>
            <a:pPr marL="127000" indent="-127000">
              <a:spcAft>
                <a:spcPts val="600"/>
              </a:spcAft>
              <a:buSzPct val="100000"/>
              <a:buChar char="–"/>
            </a:pPr>
            <a:r>
              <a:rPr lang="en-US" sz="1250" dirty="0">
                <a:solidFill>
                  <a:srgbClr val="98989F"/>
                </a:solidFill>
                <a:latin typeface="PingFang SC" pitchFamily="34" charset="0"/>
                <a:ea typeface="PingFang SC"/>
                <a:ea typeface="PingFang SC" pitchFamily="34" charset="-122"/>
                <a:cs typeface="PingFang SC" pitchFamily="34" charset="-120"/>
              </a:rPr>
              <a:t>在 Finder 中显示（按设置自动存档到 ~/Pictures/ClipIsland）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7808976" y="2139696"/>
            <a:ext cx="3493008" cy="2377440"/>
          </a:xfrm>
          <a:prstGeom prst="roundRect">
            <a:avLst>
              <a:gd name="adj" fmla="val 2692"/>
            </a:avLst>
          </a:prstGeom>
          <a:solidFill>
            <a:srgbClr val="17171E"/>
          </a:solidFill>
          <a:ln w="12700">
            <a:solidFill>
              <a:srgbClr val="34343E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pic>
        <p:nvPicPr>
          <p:cNvPr id="17" name="Image 0" descr="/tmp/ci-render/popup-bar-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63840" y="2194560"/>
            <a:ext cx="3383280" cy="2267712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7863840" y="457200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8989F"/>
                </a:solidFill>
                <a:latin typeface="PingFang SC" pitchFamily="34" charset="0"/>
                <a:ea typeface="PingFang SC"/>
                <a:ea typeface="PingFang SC" pitchFamily="34" charset="-122"/>
                <a:cs typeface="PingFang SC" pitchFamily="34" charset="-120"/>
              </a:rPr>
              <a:t>截图浮条 · 6s 自动消失，悬停暂停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0B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17236" y="0"/>
            <a:ext cx="1554480" cy="274320"/>
          </a:xfrm>
          <a:prstGeom prst="roundRect">
            <a:avLst>
              <a:gd name="adj" fmla="val 20000"/>
            </a:avLst>
          </a:prstGeom>
          <a:solidFill>
            <a:srgbClr val="22222C"/>
          </a:solidFill>
          <a:ln w="9525">
            <a:solidFill>
              <a:srgbClr val="34343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317236" y="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8989F"/>
                </a:solidFill>
                <a:latin typeface="PingFang SC" pitchFamily="34" charset="0"/>
                <a:ea typeface="PingFang SC"/>
                <a:ea typeface="PingFang SC" pitchFamily="34" charset="-122"/>
                <a:cs typeface="PingFang SC" pitchFamily="34" charset="-120"/>
              </a:rPr>
              <a:t>交互逻辑 ③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502920"/>
            <a:ext cx="111831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5F5F7"/>
                </a:solidFill>
                <a:latin typeface="PingFang SC" pitchFamily="34" charset="0"/>
                <a:ea typeface="PingFang SC"/>
                <a:ea typeface="PingFang SC" pitchFamily="34" charset="-122"/>
                <a:cs typeface="PingFang SC" pitchFamily="34" charset="-120"/>
              </a:rPr>
              <a:t>安全：加密不是开关，是一套完整的状态机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02920" y="1170432"/>
            <a:ext cx="111831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8989F"/>
                </a:solidFill>
                <a:latin typeface="PingFang SC" pitchFamily="34" charset="0"/>
                <a:ea typeface="PingFang SC"/>
                <a:ea typeface="PingFang SC" pitchFamily="34" charset="-122"/>
                <a:cs typeface="PingFang SC" pitchFamily="34" charset="-120"/>
              </a:rPr>
              <a:t>对标并修复 copyx：锁定期间的内容不再被静默丢弃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48056" y="1773936"/>
            <a:ext cx="5230368" cy="3447288"/>
          </a:xfrm>
          <a:prstGeom prst="roundRect">
            <a:avLst>
              <a:gd name="adj" fmla="val 1857"/>
            </a:avLst>
          </a:prstGeom>
          <a:solidFill>
            <a:srgbClr val="17171E"/>
          </a:solidFill>
          <a:ln w="12700">
            <a:solidFill>
              <a:srgbClr val="34343E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pic>
        <p:nvPicPr>
          <p:cNvPr id="7" name="Image 0" descr="/tmp/ci-render/panel-locked-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828800"/>
            <a:ext cx="5120640" cy="33375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02920" y="530352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8989F"/>
                </a:solidFill>
                <a:latin typeface="PingFang SC" pitchFamily="34" charset="0"/>
                <a:ea typeface="PingFang SC"/>
                <a:ea typeface="PingFang SC" pitchFamily="34" charset="-122"/>
                <a:cs typeface="PingFang SC" pitchFamily="34" charset="-120"/>
              </a:rPr>
              <a:t>面板内锁定屏：密码 / 触控 ID 解锁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6263640" y="1819656"/>
            <a:ext cx="457200" cy="457200"/>
          </a:xfrm>
          <a:prstGeom prst="ellipse">
            <a:avLst/>
          </a:prstGeom>
          <a:solidFill>
            <a:srgbClr val="0A84FF"/>
          </a:solidFill>
          <a:ln/>
        </p:spPr>
      </p:sp>
      <p:sp>
        <p:nvSpPr>
          <p:cNvPr id="10" name="Text 7"/>
          <p:cNvSpPr/>
          <p:nvPr/>
        </p:nvSpPr>
        <p:spPr>
          <a:xfrm>
            <a:off x="6263640" y="181965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PingFang SC" pitchFamily="34" charset="0"/>
                <a:ea typeface="PingFang SC"/>
                <a:ea typeface="PingFang SC" pitchFamily="34" charset="-122"/>
                <a:cs typeface="PingFang SC" pitchFamily="34" charset="-120"/>
              </a:rPr>
              <a:t>1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6903720" y="1783080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5F5F7"/>
                </a:solidFill>
                <a:latin typeface="PingFang SC" pitchFamily="34" charset="0"/>
                <a:ea typeface="PingFang SC"/>
                <a:ea typeface="PingFang SC" pitchFamily="34" charset="-122"/>
                <a:cs typeface="PingFang SC" pitchFamily="34" charset="-120"/>
              </a:rPr>
              <a:t>启用</a:t>
            </a:r>
            <a:endParaRPr lang="en-US" sz="1450" dirty="0"/>
          </a:p>
        </p:txBody>
      </p:sp>
      <p:sp>
        <p:nvSpPr>
          <p:cNvPr id="12" name="Text 9"/>
          <p:cNvSpPr/>
          <p:nvPr/>
        </p:nvSpPr>
        <p:spPr>
          <a:xfrm>
            <a:off x="6903720" y="2093976"/>
            <a:ext cx="48006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8989F"/>
                </a:solidFill>
                <a:latin typeface="PingFang SC" pitchFamily="34" charset="0"/>
                <a:ea typeface="PingFang SC"/>
                <a:ea typeface="PingFang SC" pitchFamily="34" charset="-122"/>
                <a:cs typeface="PingFang SC" pitchFamily="34" charset="-120"/>
              </a:rPr>
              <a:t>AES-256-GCM + PBKDF2（600k 迭代）派生密钥，既有条目原地加密迁移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6263640" y="2871216"/>
            <a:ext cx="457200" cy="457200"/>
          </a:xfrm>
          <a:prstGeom prst="ellipse">
            <a:avLst/>
          </a:prstGeom>
          <a:solidFill>
            <a:srgbClr val="0A84FF"/>
          </a:solidFill>
          <a:ln/>
        </p:spPr>
      </p:sp>
      <p:sp>
        <p:nvSpPr>
          <p:cNvPr id="14" name="Text 11"/>
          <p:cNvSpPr/>
          <p:nvPr/>
        </p:nvSpPr>
        <p:spPr>
          <a:xfrm>
            <a:off x="6263640" y="287121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PingFang SC" pitchFamily="34" charset="0"/>
                <a:ea typeface="PingFang SC"/>
                <a:ea typeface="PingFang SC" pitchFamily="34" charset="-122"/>
                <a:cs typeface="PingFang SC" pitchFamily="34" charset="-120"/>
              </a:rPr>
              <a:t>2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6903720" y="2834640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5F5F7"/>
                </a:solidFill>
                <a:latin typeface="PingFang SC" pitchFamily="34" charset="0"/>
                <a:ea typeface="PingFang SC"/>
                <a:ea typeface="PingFang SC" pitchFamily="34" charset="-122"/>
                <a:cs typeface="PingFang SC" pitchFamily="34" charset="-120"/>
              </a:rPr>
              <a:t>锁定</a:t>
            </a:r>
            <a:endParaRPr lang="en-US" sz="1450" dirty="0"/>
          </a:p>
        </p:txBody>
      </p:sp>
      <p:sp>
        <p:nvSpPr>
          <p:cNvPr id="16" name="Text 13"/>
          <p:cNvSpPr/>
          <p:nvPr/>
        </p:nvSpPr>
        <p:spPr>
          <a:xfrm>
            <a:off x="6903720" y="3145536"/>
            <a:ext cx="48006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8989F"/>
                </a:solidFill>
                <a:latin typeface="PingFang SC" pitchFamily="34" charset="0"/>
                <a:ea typeface="PingFang SC"/>
                <a:ea typeface="PingFang SC" pitchFamily="34" charset="-122"/>
                <a:cs typeface="PingFang SC" pitchFamily="34" charset="-120"/>
              </a:rPr>
              <a:t>密钥仅存内存；文本与图片在 SQLite 和磁盘上都是密文，去重哈希换成 HMAC（连“内容相等”都不泄漏）</a:t>
            </a:r>
            <a:endParaRPr lang="en-US" sz="1150" dirty="0"/>
          </a:p>
        </p:txBody>
      </p:sp>
      <p:sp>
        <p:nvSpPr>
          <p:cNvPr id="17" name="Shape 14"/>
          <p:cNvSpPr/>
          <p:nvPr/>
        </p:nvSpPr>
        <p:spPr>
          <a:xfrm>
            <a:off x="6263640" y="3922776"/>
            <a:ext cx="457200" cy="457200"/>
          </a:xfrm>
          <a:prstGeom prst="ellipse">
            <a:avLst/>
          </a:prstGeom>
          <a:solidFill>
            <a:srgbClr val="0A84FF"/>
          </a:solidFill>
          <a:ln/>
        </p:spPr>
      </p:sp>
      <p:sp>
        <p:nvSpPr>
          <p:cNvPr id="18" name="Text 15"/>
          <p:cNvSpPr/>
          <p:nvPr/>
        </p:nvSpPr>
        <p:spPr>
          <a:xfrm>
            <a:off x="6263640" y="392277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PingFang SC" pitchFamily="34" charset="0"/>
                <a:ea typeface="PingFang SC"/>
                <a:ea typeface="PingFang SC" pitchFamily="34" charset="-122"/>
                <a:cs typeface="PingFang SC" pitchFamily="34" charset="-120"/>
              </a:rPr>
              <a:t>3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6903720" y="3886200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5F5F7"/>
                </a:solidFill>
                <a:latin typeface="PingFang SC" pitchFamily="34" charset="0"/>
                <a:ea typeface="PingFang SC"/>
                <a:ea typeface="PingFang SC" pitchFamily="34" charset="-122"/>
                <a:cs typeface="PingFang SC" pitchFamily="34" charset="-120"/>
              </a:rPr>
              <a:t>锁定期复制</a:t>
            </a:r>
            <a:endParaRPr lang="en-US" sz="1450" dirty="0"/>
          </a:p>
        </p:txBody>
      </p:sp>
      <p:sp>
        <p:nvSpPr>
          <p:cNvPr id="20" name="Text 17"/>
          <p:cNvSpPr/>
          <p:nvPr/>
        </p:nvSpPr>
        <p:spPr>
          <a:xfrm>
            <a:off x="6903720" y="4197096"/>
            <a:ext cx="48006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8989F"/>
                </a:solidFill>
                <a:latin typeface="PingFang SC" pitchFamily="34" charset="0"/>
                <a:ea typeface="PingFang SC"/>
                <a:ea typeface="PingFang SC" pitchFamily="34" charset="-122"/>
                <a:cs typeface="PingFang SC" pitchFamily="34" charset="-120"/>
              </a:rPr>
              <a:t>缓存在内存，绝不落盘——解锁后自动合并入加密历史</a:t>
            </a:r>
            <a:endParaRPr lang="en-US" sz="1150" dirty="0"/>
          </a:p>
        </p:txBody>
      </p:sp>
      <p:sp>
        <p:nvSpPr>
          <p:cNvPr id="21" name="Shape 18"/>
          <p:cNvSpPr/>
          <p:nvPr/>
        </p:nvSpPr>
        <p:spPr>
          <a:xfrm>
            <a:off x="6263640" y="4974336"/>
            <a:ext cx="457200" cy="457200"/>
          </a:xfrm>
          <a:prstGeom prst="ellipse">
            <a:avLst/>
          </a:prstGeom>
          <a:solidFill>
            <a:srgbClr val="0A84FF"/>
          </a:solidFill>
          <a:ln/>
        </p:spPr>
      </p:sp>
      <p:sp>
        <p:nvSpPr>
          <p:cNvPr id="22" name="Text 19"/>
          <p:cNvSpPr/>
          <p:nvPr/>
        </p:nvSpPr>
        <p:spPr>
          <a:xfrm>
            <a:off x="6263640" y="497433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PingFang SC" pitchFamily="34" charset="0"/>
                <a:ea typeface="PingFang SC"/>
                <a:ea typeface="PingFang SC" pitchFamily="34" charset="-122"/>
                <a:cs typeface="PingFang SC" pitchFamily="34" charset="-120"/>
              </a:rPr>
              <a:t>4</a:t>
            </a:r>
            <a:endParaRPr lang="en-US" sz="1600" dirty="0"/>
          </a:p>
        </p:txBody>
      </p:sp>
      <p:sp>
        <p:nvSpPr>
          <p:cNvPr id="23" name="Text 20"/>
          <p:cNvSpPr/>
          <p:nvPr/>
        </p:nvSpPr>
        <p:spPr>
          <a:xfrm>
            <a:off x="6903720" y="4937760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5F5F7"/>
                </a:solidFill>
                <a:latin typeface="PingFang SC" pitchFamily="34" charset="0"/>
                <a:ea typeface="PingFang SC"/>
                <a:ea typeface="PingFang SC" pitchFamily="34" charset="-122"/>
                <a:cs typeface="PingFang SC" pitchFamily="34" charset="-120"/>
              </a:rPr>
              <a:t>解锁</a:t>
            </a:r>
            <a:endParaRPr lang="en-US" sz="1450" dirty="0"/>
          </a:p>
        </p:txBody>
      </p:sp>
      <p:sp>
        <p:nvSpPr>
          <p:cNvPr id="24" name="Text 21"/>
          <p:cNvSpPr/>
          <p:nvPr/>
        </p:nvSpPr>
        <p:spPr>
          <a:xfrm>
            <a:off x="6903720" y="5248656"/>
            <a:ext cx="48006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8989F"/>
                </a:solidFill>
                <a:latin typeface="PingFang SC" pitchFamily="34" charset="0"/>
                <a:ea typeface="PingFang SC"/>
                <a:ea typeface="PingFang SC" pitchFamily="34" charset="-122"/>
                <a:cs typeface="PingFang SC" pitchFamily="34" charset="-120"/>
              </a:rPr>
              <a:t>主密码或触控 ID（Keychain 拆分设计）；自动锁定 1–60 分钟可调</a:t>
            </a:r>
            <a:endParaRPr lang="en-US" sz="1150" dirty="0"/>
          </a:p>
        </p:txBody>
      </p:sp>
      <p:sp>
        <p:nvSpPr>
          <p:cNvPr id="25" name="Text 22"/>
          <p:cNvSpPr/>
          <p:nvPr/>
        </p:nvSpPr>
        <p:spPr>
          <a:xfrm>
            <a:off x="6263640" y="603504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A84FF"/>
                </a:solidFill>
                <a:latin typeface="PingFang SC" pitchFamily="34" charset="0"/>
                <a:ea typeface="PingFang SC"/>
                <a:ea typeface="PingFang SC" pitchFamily="34" charset="-122"/>
                <a:cs typeface="PingFang SC" pitchFamily="34" charset="-120"/>
              </a:rPr>
              <a:t>密码管理器带隐藏标记的内容永不入库 · 全程 0 网络请求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0B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17236" y="0"/>
            <a:ext cx="1554480" cy="274320"/>
          </a:xfrm>
          <a:prstGeom prst="roundRect">
            <a:avLst>
              <a:gd name="adj" fmla="val 20000"/>
            </a:avLst>
          </a:prstGeom>
          <a:solidFill>
            <a:srgbClr val="22222C"/>
          </a:solidFill>
          <a:ln w="9525">
            <a:solidFill>
              <a:srgbClr val="34343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317236" y="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8989F"/>
                </a:solidFill>
                <a:latin typeface="PingFang SC" pitchFamily="34" charset="0"/>
                <a:ea typeface="PingFang SC"/>
                <a:ea typeface="PingFang SC" pitchFamily="34" charset="-122"/>
                <a:cs typeface="PingFang SC" pitchFamily="34" charset="-120"/>
              </a:rPr>
              <a:t>工程与性能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502920"/>
            <a:ext cx="111831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5F5F7"/>
                </a:solidFill>
                <a:latin typeface="PingFang SC" pitchFamily="34" charset="0"/>
                <a:ea typeface="PingFang SC"/>
                <a:ea typeface="PingFang SC" pitchFamily="34" charset="-122"/>
                <a:cs typeface="PingFang SC" pitchFamily="34" charset="-120"/>
              </a:rPr>
              <a:t>性能不是口号，是八组实测数字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02920" y="1170432"/>
            <a:ext cx="111831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8989F"/>
                </a:solidFill>
                <a:latin typeface="PingFang SC" pitchFamily="34" charset="0"/>
                <a:ea typeface="PingFang SC"/>
                <a:ea typeface="PingFang SC" pitchFamily="34" charset="-122"/>
                <a:cs typeface="PingFang SC" pitchFamily="34" charset="-120"/>
              </a:rPr>
              <a:t>全部来自自测与运行时探针，可复现（docs/ACCEPTANCE.md）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02920" y="1828800"/>
            <a:ext cx="2606040" cy="1874520"/>
          </a:xfrm>
          <a:prstGeom prst="roundRect">
            <a:avLst>
              <a:gd name="adj" fmla="val 4878"/>
            </a:avLst>
          </a:prstGeom>
          <a:solidFill>
            <a:srgbClr val="17171E"/>
          </a:solidFill>
          <a:ln w="9525">
            <a:solidFill>
              <a:srgbClr val="34343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2029968"/>
            <a:ext cx="2606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0A84FF"/>
                </a:solidFill>
                <a:latin typeface="PingFang SC" pitchFamily="34" charset="0"/>
                <a:ea typeface="PingFang SC"/>
                <a:ea typeface="PingFang SC" pitchFamily="34" charset="-122"/>
                <a:cs typeface="PingFang SC" pitchFamily="34" charset="-120"/>
              </a:rPr>
              <a:t>1.6MB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502920" y="2761488"/>
            <a:ext cx="2606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5F5F7"/>
                </a:solidFill>
                <a:latin typeface="PingFang SC" pitchFamily="34" charset="0"/>
                <a:ea typeface="PingFang SC"/>
                <a:ea typeface="PingFang SC" pitchFamily="34" charset="-122"/>
                <a:cs typeface="PingFang SC" pitchFamily="34" charset="-120"/>
              </a:rPr>
              <a:t>安装包体积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40080" y="3090672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8989F"/>
                </a:solidFill>
                <a:latin typeface="PingFang SC" pitchFamily="34" charset="0"/>
                <a:ea typeface="PingFang SC"/>
                <a:ea typeface="PingFang SC" pitchFamily="34" charset="-122"/>
                <a:cs typeface="PingFang SC" pitchFamily="34" charset="-120"/>
              </a:rPr>
              <a:t>纯 SwiftPM 组装，零第三方依赖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364992" y="1828800"/>
            <a:ext cx="2606040" cy="1874520"/>
          </a:xfrm>
          <a:prstGeom prst="roundRect">
            <a:avLst>
              <a:gd name="adj" fmla="val 4878"/>
            </a:avLst>
          </a:prstGeom>
          <a:solidFill>
            <a:srgbClr val="17171E"/>
          </a:solidFill>
          <a:ln w="9525">
            <a:solidFill>
              <a:srgbClr val="34343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364992" y="2029968"/>
            <a:ext cx="2606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5F5F7"/>
                </a:solidFill>
                <a:latin typeface="PingFang SC" pitchFamily="34" charset="0"/>
                <a:ea typeface="PingFang SC"/>
                <a:ea typeface="PingFang SC" pitchFamily="34" charset="-122"/>
                <a:cs typeface="PingFang SC" pitchFamily="34" charset="-120"/>
              </a:rPr>
              <a:t>74KB</a:t>
            </a:r>
            <a:endParaRPr lang="en-US" sz="3400" dirty="0"/>
          </a:p>
        </p:txBody>
      </p:sp>
      <p:sp>
        <p:nvSpPr>
          <p:cNvPr id="12" name="Text 10"/>
          <p:cNvSpPr/>
          <p:nvPr/>
        </p:nvSpPr>
        <p:spPr>
          <a:xfrm>
            <a:off x="3364992" y="2761488"/>
            <a:ext cx="2606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5F5F7"/>
                </a:solidFill>
                <a:latin typeface="PingFang SC" pitchFamily="34" charset="0"/>
                <a:ea typeface="PingFang SC"/>
                <a:ea typeface="PingFang SC" pitchFamily="34" charset="-122"/>
                <a:cs typeface="PingFang SC" pitchFamily="34" charset="-120"/>
              </a:rPr>
              <a:t>单张缩略图驻留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502152" y="3090672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8989F"/>
                </a:solidFill>
                <a:latin typeface="PingFang SC" pitchFamily="34" charset="0"/>
                <a:ea typeface="PingFang SC"/>
                <a:ea typeface="PingFang SC" pitchFamily="34" charset="-122"/>
                <a:cs typeface="PingFang SC" pitchFamily="34" charset="-120"/>
              </a:rPr>
              <a:t>ImageIO 降采样，替代 38MB 全量解码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227064" y="1828800"/>
            <a:ext cx="2606040" cy="1874520"/>
          </a:xfrm>
          <a:prstGeom prst="roundRect">
            <a:avLst>
              <a:gd name="adj" fmla="val 4878"/>
            </a:avLst>
          </a:prstGeom>
          <a:solidFill>
            <a:srgbClr val="17171E"/>
          </a:solidFill>
          <a:ln w="9525">
            <a:solidFill>
              <a:srgbClr val="34343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27064" y="2029968"/>
            <a:ext cx="2606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5F5F7"/>
                </a:solidFill>
                <a:latin typeface="PingFang SC" pitchFamily="34" charset="0"/>
                <a:ea typeface="PingFang SC"/>
                <a:ea typeface="PingFang SC" pitchFamily="34" charset="-122"/>
                <a:cs typeface="PingFang SC" pitchFamily="34" charset="-120"/>
              </a:rPr>
              <a:t>+0.7MB</a:t>
            </a:r>
            <a:endParaRPr lang="en-US" sz="3400" dirty="0"/>
          </a:p>
        </p:txBody>
      </p:sp>
      <p:sp>
        <p:nvSpPr>
          <p:cNvPr id="16" name="Text 14"/>
          <p:cNvSpPr/>
          <p:nvPr/>
        </p:nvSpPr>
        <p:spPr>
          <a:xfrm>
            <a:off x="6227064" y="2761488"/>
            <a:ext cx="2606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5F5F7"/>
                </a:solidFill>
                <a:latin typeface="PingFang SC" pitchFamily="34" charset="0"/>
                <a:ea typeface="PingFang SC"/>
                <a:ea typeface="PingFang SC" pitchFamily="34" charset="-122"/>
                <a:cs typeface="PingFang SC" pitchFamily="34" charset="-120"/>
              </a:rPr>
              <a:t>大图捕获后 RSS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364224" y="3090672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8989F"/>
                </a:solidFill>
                <a:latin typeface="PingFang SC" pitchFamily="34" charset="0"/>
                <a:ea typeface="PingFang SC"/>
                <a:ea typeface="PingFang SC" pitchFamily="34" charset="-122"/>
                <a:cs typeface="PingFang SC" pitchFamily="34" charset="-120"/>
              </a:rPr>
              <a:t>4000×2500 只读压缩数据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9089136" y="1828800"/>
            <a:ext cx="2606040" cy="1874520"/>
          </a:xfrm>
          <a:prstGeom prst="roundRect">
            <a:avLst>
              <a:gd name="adj" fmla="val 4878"/>
            </a:avLst>
          </a:prstGeom>
          <a:solidFill>
            <a:srgbClr val="17171E"/>
          </a:solidFill>
          <a:ln w="9525">
            <a:solidFill>
              <a:srgbClr val="34343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089136" y="2029968"/>
            <a:ext cx="2606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5F5F7"/>
                </a:solidFill>
                <a:latin typeface="PingFang SC" pitchFamily="34" charset="0"/>
                <a:ea typeface="PingFang SC"/>
                <a:ea typeface="PingFang SC" pitchFamily="34" charset="-122"/>
                <a:cs typeface="PingFang SC" pitchFamily="34" charset="-120"/>
              </a:rPr>
              <a:t>&lt;0.3MB</a:t>
            </a:r>
            <a:endParaRPr lang="en-US" sz="3400" dirty="0"/>
          </a:p>
        </p:txBody>
      </p:sp>
      <p:sp>
        <p:nvSpPr>
          <p:cNvPr id="20" name="Text 18"/>
          <p:cNvSpPr/>
          <p:nvPr/>
        </p:nvSpPr>
        <p:spPr>
          <a:xfrm>
            <a:off x="9089136" y="2761488"/>
            <a:ext cx="2606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5F5F7"/>
                </a:solidFill>
                <a:latin typeface="PingFang SC" pitchFamily="34" charset="0"/>
                <a:ea typeface="PingFang SC"/>
                <a:ea typeface="PingFang SC" pitchFamily="34" charset="-122"/>
                <a:cs typeface="PingFang SC" pitchFamily="34" charset="-120"/>
              </a:rPr>
              <a:t>面板开合循环增量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9226296" y="3090672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8989F"/>
                </a:solidFill>
                <a:latin typeface="PingFang SC" pitchFamily="34" charset="0"/>
                <a:ea typeface="PingFang SC"/>
                <a:ea typeface="PingFang SC" pitchFamily="34" charset="-122"/>
                <a:cs typeface="PingFang SC" pitchFamily="34" charset="-120"/>
              </a:rPr>
              <a:t>重复开合不增长的平坦曲线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502920" y="3977640"/>
            <a:ext cx="2606040" cy="1874520"/>
          </a:xfrm>
          <a:prstGeom prst="roundRect">
            <a:avLst>
              <a:gd name="adj" fmla="val 4878"/>
            </a:avLst>
          </a:prstGeom>
          <a:solidFill>
            <a:srgbClr val="17171E"/>
          </a:solidFill>
          <a:ln w="9525">
            <a:solidFill>
              <a:srgbClr val="34343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02920" y="4178808"/>
            <a:ext cx="2606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5F5F7"/>
                </a:solidFill>
                <a:latin typeface="PingFang SC" pitchFamily="34" charset="0"/>
                <a:ea typeface="PingFang SC"/>
                <a:ea typeface="PingFang SC" pitchFamily="34" charset="-122"/>
                <a:cs typeface="PingFang SC" pitchFamily="34" charset="-120"/>
              </a:rPr>
              <a:t>113/113</a:t>
            </a:r>
            <a:endParaRPr lang="en-US" sz="3400" dirty="0"/>
          </a:p>
        </p:txBody>
      </p:sp>
      <p:sp>
        <p:nvSpPr>
          <p:cNvPr id="24" name="Text 22"/>
          <p:cNvSpPr/>
          <p:nvPr/>
        </p:nvSpPr>
        <p:spPr>
          <a:xfrm>
            <a:off x="502920" y="4910328"/>
            <a:ext cx="2606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5F5F7"/>
                </a:solidFill>
                <a:latin typeface="PingFang SC" pitchFamily="34" charset="0"/>
                <a:ea typeface="PingFang SC"/>
                <a:ea typeface="PingFang SC" pitchFamily="34" charset="-122"/>
                <a:cs typeface="PingFang SC" pitchFamily="34" charset="-120"/>
              </a:rPr>
              <a:t>逻辑自测通过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40080" y="5239512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8989F"/>
                </a:solidFill>
                <a:latin typeface="PingFang SC" pitchFamily="34" charset="0"/>
                <a:ea typeface="PingFang SC"/>
                <a:ea typeface="PingFang SC" pitchFamily="34" charset="-122"/>
                <a:cs typeface="PingFang SC" pitchFamily="34" charset="-120"/>
              </a:rPr>
              <a:t>含 PBKDF2 RFC 向量与加密往返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3364992" y="3977640"/>
            <a:ext cx="2606040" cy="1874520"/>
          </a:xfrm>
          <a:prstGeom prst="roundRect">
            <a:avLst>
              <a:gd name="adj" fmla="val 4878"/>
            </a:avLst>
          </a:prstGeom>
          <a:solidFill>
            <a:srgbClr val="17171E"/>
          </a:solidFill>
          <a:ln w="9525">
            <a:solidFill>
              <a:srgbClr val="34343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364992" y="4178808"/>
            <a:ext cx="2606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5F5F7"/>
                </a:solidFill>
                <a:latin typeface="PingFang SC" pitchFamily="34" charset="0"/>
                <a:ea typeface="PingFang SC"/>
                <a:ea typeface="PingFang SC" pitchFamily="34" charset="-122"/>
                <a:cs typeface="PingFang SC" pitchFamily="34" charset="-120"/>
              </a:rPr>
              <a:t>28 项</a:t>
            </a:r>
            <a:endParaRPr lang="en-US" sz="3400" dirty="0"/>
          </a:p>
        </p:txBody>
      </p:sp>
      <p:sp>
        <p:nvSpPr>
          <p:cNvPr id="28" name="Text 26"/>
          <p:cNvSpPr/>
          <p:nvPr/>
        </p:nvSpPr>
        <p:spPr>
          <a:xfrm>
            <a:off x="3364992" y="4910328"/>
            <a:ext cx="2606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5F5F7"/>
                </a:solidFill>
                <a:latin typeface="PingFang SC" pitchFamily="34" charset="0"/>
                <a:ea typeface="PingFang SC"/>
                <a:ea typeface="PingFang SC" pitchFamily="34" charset="-122"/>
                <a:cs typeface="PingFang SC" pitchFamily="34" charset="-120"/>
              </a:rPr>
              <a:t>运行时验收矩阵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3502152" y="5239512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8989F"/>
                </a:solidFill>
                <a:latin typeface="PingFang SC" pitchFamily="34" charset="0"/>
                <a:ea typeface="PingFang SC"/>
                <a:ea typeface="PingFang SC" pitchFamily="34" charset="-122"/>
                <a:cs typeface="PingFang SC" pitchFamily="34" charset="-120"/>
              </a:rPr>
              <a:t>分布式通知钩子驱动全 UI 状态机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6227064" y="3977640"/>
            <a:ext cx="2606040" cy="1874520"/>
          </a:xfrm>
          <a:prstGeom prst="roundRect">
            <a:avLst>
              <a:gd name="adj" fmla="val 4878"/>
            </a:avLst>
          </a:prstGeom>
          <a:solidFill>
            <a:srgbClr val="17171E"/>
          </a:solidFill>
          <a:ln w="9525">
            <a:solidFill>
              <a:srgbClr val="34343E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227064" y="4178808"/>
            <a:ext cx="2606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5F5F7"/>
                </a:solidFill>
                <a:latin typeface="PingFang SC" pitchFamily="34" charset="0"/>
                <a:ea typeface="PingFang SC"/>
                <a:ea typeface="PingFang SC" pitchFamily="34" charset="-122"/>
                <a:cs typeface="PingFang SC" pitchFamily="34" charset="-120"/>
              </a:rPr>
              <a:t>600k</a:t>
            </a:r>
            <a:endParaRPr lang="en-US" sz="3400" dirty="0"/>
          </a:p>
        </p:txBody>
      </p:sp>
      <p:sp>
        <p:nvSpPr>
          <p:cNvPr id="32" name="Text 30"/>
          <p:cNvSpPr/>
          <p:nvPr/>
        </p:nvSpPr>
        <p:spPr>
          <a:xfrm>
            <a:off x="6227064" y="4910328"/>
            <a:ext cx="2606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5F5F7"/>
                </a:solidFill>
                <a:latin typeface="PingFang SC" pitchFamily="34" charset="0"/>
                <a:ea typeface="PingFang SC"/>
                <a:ea typeface="PingFang SC" pitchFamily="34" charset="-122"/>
                <a:cs typeface="PingFang SC" pitchFamily="34" charset="-120"/>
              </a:rPr>
              <a:t>PBKDF2 迭代次数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6364224" y="5239512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8989F"/>
                </a:solidFill>
                <a:latin typeface="PingFang SC" pitchFamily="34" charset="0"/>
                <a:ea typeface="PingFang SC"/>
                <a:ea typeface="PingFang SC" pitchFamily="34" charset="-122"/>
                <a:cs typeface="PingFang SC" pitchFamily="34" charset="-120"/>
              </a:rPr>
              <a:t>RFC 向量校验的密钥派生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9089136" y="3977640"/>
            <a:ext cx="2606040" cy="1874520"/>
          </a:xfrm>
          <a:prstGeom prst="roundRect">
            <a:avLst>
              <a:gd name="adj" fmla="val 4878"/>
            </a:avLst>
          </a:prstGeom>
          <a:solidFill>
            <a:srgbClr val="17171E"/>
          </a:solidFill>
          <a:ln w="9525">
            <a:solidFill>
              <a:srgbClr val="34343E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9089136" y="4178808"/>
            <a:ext cx="2606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5F5F7"/>
                </a:solidFill>
                <a:latin typeface="PingFang SC" pitchFamily="34" charset="0"/>
                <a:ea typeface="PingFang SC"/>
                <a:ea typeface="PingFang SC" pitchFamily="34" charset="-122"/>
                <a:cs typeface="PingFang SC" pitchFamily="34" charset="-120"/>
              </a:rPr>
              <a:t>0</a:t>
            </a:r>
            <a:endParaRPr lang="en-US" sz="3400" dirty="0"/>
          </a:p>
        </p:txBody>
      </p:sp>
      <p:sp>
        <p:nvSpPr>
          <p:cNvPr id="36" name="Text 34"/>
          <p:cNvSpPr/>
          <p:nvPr/>
        </p:nvSpPr>
        <p:spPr>
          <a:xfrm>
            <a:off x="9089136" y="4910328"/>
            <a:ext cx="2606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5F5F7"/>
                </a:solidFill>
                <a:latin typeface="PingFang SC" pitchFamily="34" charset="0"/>
                <a:ea typeface="PingFang SC"/>
                <a:ea typeface="PingFang SC" pitchFamily="34" charset="-122"/>
                <a:cs typeface="PingFang SC" pitchFamily="34" charset="-120"/>
              </a:rPr>
              <a:t>网络请求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9226296" y="5239512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8989F"/>
                </a:solidFill>
                <a:latin typeface="PingFang SC" pitchFamily="34" charset="0"/>
                <a:ea typeface="PingFang SC"/>
                <a:ea typeface="PingFang SC" pitchFamily="34" charset="-122"/>
                <a:cs typeface="PingFang SC" pitchFamily="34" charset="-120"/>
              </a:rPr>
              <a:t>监控/截图/OCR 全部本机完成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0B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17236" y="0"/>
            <a:ext cx="1554480" cy="274320"/>
          </a:xfrm>
          <a:prstGeom prst="roundRect">
            <a:avLst>
              <a:gd name="adj" fmla="val 20000"/>
            </a:avLst>
          </a:prstGeom>
          <a:solidFill>
            <a:srgbClr val="22222C"/>
          </a:solidFill>
          <a:ln w="9525">
            <a:solidFill>
              <a:srgbClr val="34343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317236" y="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8989F"/>
                </a:solidFill>
                <a:latin typeface="PingFang SC" pitchFamily="34" charset="0"/>
                <a:ea typeface="PingFang SC"/>
                <a:ea typeface="PingFang SC" pitchFamily="34" charset="-122"/>
                <a:cs typeface="PingFang SC" pitchFamily="34" charset="-120"/>
              </a:rPr>
              <a:t>竞品对比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502920"/>
            <a:ext cx="111831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5F5F7"/>
                </a:solidFill>
                <a:latin typeface="PingFang SC" pitchFamily="34" charset="0"/>
                <a:ea typeface="PingFang SC"/>
                <a:ea typeface="PingFang SC" pitchFamily="34" charset="-122"/>
                <a:cs typeface="PingFang SC" pitchFamily="34" charset="-120"/>
              </a:rPr>
              <a:t>与四个开源竞品的源码级对比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02920" y="1170432"/>
            <a:ext cx="111831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8989F"/>
                </a:solidFill>
                <a:latin typeface="PingFang SC" pitchFamily="34" charset="0"/>
                <a:ea typeface="PingFang SC"/>
                <a:ea typeface="PingFang SC" pitchFamily="34" charset="-122"/>
                <a:cs typeface="PingFang SC" pitchFamily="34" charset="-120"/>
              </a:rPr>
              <a:t>证据级结论，非功能清单打勾——完整矩阵见 docs/COMPARISON.md</a:t>
            </a:r>
            <a:endParaRPr lang="en-US" sz="14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737360"/>
          <a:ext cx="11183112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2148840"/>
                <a:gridCol w="2011680"/>
                <a:gridCol w="2011680"/>
                <a:gridCol w="2011680"/>
                <a:gridCol w="1965960"/>
              </a:tblGrid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5F5F7"/>
                          </a:solidFill>
                          <a:latin typeface="PingFang SC" pitchFamily="34" charset="0"/>
                          <a:ea typeface="PingFang SC"/>
                          <a:ea typeface="PingFang SC" pitchFamily="34" charset="-122"/>
                          <a:cs typeface="PingFang SC" pitchFamily="34" charset="-120"/>
                        </a:rPr>
                        <a:t>维度</a:t>
                      </a:r>
                      <a:endParaRPr lang="en-US" sz="1250" dirty="0">
                        <a:latin typeface="PingFang SC" charset="0"/>
                        <a:ea typeface="PingFang SC"/>
                        <a:ea typeface="PingFang SC" charset="0"/>
                        <a:cs typeface="PingFang S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3434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434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434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434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71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0A84FF"/>
                          </a:solidFill>
                          <a:latin typeface="PingFang SC" pitchFamily="34" charset="0"/>
                          <a:ea typeface="PingFang SC"/>
                          <a:ea typeface="PingFang SC" pitchFamily="34" charset="-122"/>
                          <a:cs typeface="PingFang SC" pitchFamily="34" charset="-120"/>
                        </a:rPr>
                        <a:t>ClipIsland</a:t>
                      </a:r>
                      <a:endParaRPr lang="en-US" sz="1250" dirty="0">
                        <a:latin typeface="PingFang SC" charset="0"/>
                        <a:ea typeface="PingFang SC"/>
                        <a:ea typeface="PingFang SC" charset="0"/>
                        <a:cs typeface="PingFang S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3434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434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434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434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71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5F5F7"/>
                          </a:solidFill>
                          <a:latin typeface="PingFang SC" pitchFamily="34" charset="0"/>
                          <a:ea typeface="PingFang SC"/>
                          <a:ea typeface="PingFang SC" pitchFamily="34" charset="-122"/>
                          <a:cs typeface="PingFang SC" pitchFamily="34" charset="-120"/>
                        </a:rPr>
                        <a:t>copyx</a:t>
                      </a:r>
                      <a:endParaRPr lang="en-US" sz="1250" dirty="0">
                        <a:latin typeface="PingFang SC" charset="0"/>
                        <a:ea typeface="PingFang SC"/>
                        <a:ea typeface="PingFang SC" charset="0"/>
                        <a:cs typeface="PingFang S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3434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434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434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434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71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5F5F7"/>
                          </a:solidFill>
                          <a:latin typeface="PingFang SC" pitchFamily="34" charset="0"/>
                          <a:ea typeface="PingFang SC"/>
                          <a:ea typeface="PingFang SC" pitchFamily="34" charset="-122"/>
                          <a:cs typeface="PingFang SC" pitchFamily="34" charset="-120"/>
                        </a:rPr>
                        <a:t>Sapphire</a:t>
                      </a:r>
                      <a:endParaRPr lang="en-US" sz="1250" dirty="0">
                        <a:latin typeface="PingFang SC" charset="0"/>
                        <a:ea typeface="PingFang SC"/>
                        <a:ea typeface="PingFang SC" charset="0"/>
                        <a:cs typeface="PingFang S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3434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434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434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434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71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5F5F7"/>
                          </a:solidFill>
                          <a:latin typeface="PingFang SC" pitchFamily="34" charset="0"/>
                          <a:ea typeface="PingFang SC"/>
                          <a:ea typeface="PingFang SC" pitchFamily="34" charset="-122"/>
                          <a:cs typeface="PingFang SC" pitchFamily="34" charset="-120"/>
                        </a:rPr>
                        <a:t>tendedero</a:t>
                      </a:r>
                      <a:endParaRPr lang="en-US" sz="1250" dirty="0">
                        <a:latin typeface="PingFang SC" charset="0"/>
                        <a:ea typeface="PingFang SC"/>
                        <a:ea typeface="PingFang SC" charset="0"/>
                        <a:cs typeface="PingFang S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3434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434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434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434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71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5F5F7"/>
                          </a:solidFill>
                          <a:latin typeface="PingFang SC" pitchFamily="34" charset="0"/>
                          <a:ea typeface="PingFang SC"/>
                          <a:ea typeface="PingFang SC" pitchFamily="34" charset="-122"/>
                          <a:cs typeface="PingFang SC" pitchFamily="34" charset="-120"/>
                        </a:rPr>
                        <a:t>shotx</a:t>
                      </a:r>
                      <a:endParaRPr lang="en-US" sz="1250" dirty="0">
                        <a:latin typeface="PingFang SC" charset="0"/>
                        <a:ea typeface="PingFang SC"/>
                        <a:ea typeface="PingFang SC" charset="0"/>
                        <a:cs typeface="PingFang S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3434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434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434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434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71E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5F5F7"/>
                          </a:solidFill>
                          <a:latin typeface="PingFang SC" pitchFamily="34" charset="0"/>
                          <a:ea typeface="PingFang SC"/>
                          <a:ea typeface="PingFang SC" pitchFamily="34" charset="-122"/>
                          <a:cs typeface="PingFang SC" pitchFamily="34" charset="-120"/>
                        </a:rPr>
                        <a:t>形态</a:t>
                      </a:r>
                      <a:endParaRPr lang="en-US" sz="1150" dirty="0">
                        <a:latin typeface="PingFang SC" charset="0"/>
                        <a:ea typeface="PingFang SC"/>
                        <a:ea typeface="PingFang SC" charset="0"/>
                        <a:cs typeface="PingFang S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3434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434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434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434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71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A84FF"/>
                          </a:solidFill>
                          <a:latin typeface="PingFang SC" pitchFamily="34" charset="0"/>
                          <a:ea typeface="PingFang SC"/>
                          <a:ea typeface="PingFang SC" pitchFamily="34" charset="-122"/>
                          <a:cs typeface="PingFang SC" pitchFamily="34" charset="-120"/>
                        </a:rPr>
                        <a:t>刘海岛+浮条</a:t>
                      </a:r>
                      <a:endParaRPr lang="en-US" sz="1150" dirty="0">
                        <a:latin typeface="PingFang SC" charset="0"/>
                        <a:ea typeface="PingFang SC"/>
                        <a:ea typeface="PingFang SC" charset="0"/>
                        <a:cs typeface="PingFang S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3434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434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434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434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B1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98989F"/>
                          </a:solidFill>
                          <a:latin typeface="PingFang SC" pitchFamily="34" charset="0"/>
                          <a:ea typeface="PingFang SC"/>
                          <a:ea typeface="PingFang SC" pitchFamily="34" charset="-122"/>
                          <a:cs typeface="PingFang SC" pitchFamily="34" charset="-120"/>
                        </a:rPr>
                        <a:t>底部大面板</a:t>
                      </a:r>
                      <a:endParaRPr lang="en-US" sz="1150" dirty="0">
                        <a:latin typeface="PingFang SC" charset="0"/>
                        <a:ea typeface="PingFang SC"/>
                        <a:ea typeface="PingFang SC" charset="0"/>
                        <a:cs typeface="PingFang S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3434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434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434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434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B1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98989F"/>
                          </a:solidFill>
                          <a:latin typeface="PingFang SC" pitchFamily="34" charset="0"/>
                          <a:ea typeface="PingFang SC"/>
                          <a:ea typeface="PingFang SC" pitchFamily="34" charset="-122"/>
                          <a:cs typeface="PingFang SC" pitchFamily="34" charset="-120"/>
                        </a:rPr>
                        <a:t>刘海平台</a:t>
                      </a:r>
                      <a:endParaRPr lang="en-US" sz="1150" dirty="0">
                        <a:latin typeface="PingFang SC" charset="0"/>
                        <a:ea typeface="PingFang SC"/>
                        <a:ea typeface="PingFang SC" charset="0"/>
                        <a:cs typeface="PingFang S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3434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434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434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434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B1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98989F"/>
                          </a:solidFill>
                          <a:latin typeface="PingFang SC" pitchFamily="34" charset="0"/>
                          <a:ea typeface="PingFang SC"/>
                          <a:ea typeface="PingFang SC" pitchFamily="34" charset="-122"/>
                          <a:cs typeface="PingFang SC" pitchFamily="34" charset="-120"/>
                        </a:rPr>
                        <a:t>顶部晾衣绳</a:t>
                      </a:r>
                      <a:endParaRPr lang="en-US" sz="1150" dirty="0">
                        <a:latin typeface="PingFang SC" charset="0"/>
                        <a:ea typeface="PingFang SC"/>
                        <a:ea typeface="PingFang SC" charset="0"/>
                        <a:cs typeface="PingFang S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3434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434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434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434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B1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98989F"/>
                          </a:solidFill>
                          <a:latin typeface="PingFang SC" pitchFamily="34" charset="0"/>
                          <a:ea typeface="PingFang SC"/>
                          <a:ea typeface="PingFang SC" pitchFamily="34" charset="-122"/>
                          <a:cs typeface="PingFang SC" pitchFamily="34" charset="-120"/>
                        </a:rPr>
                        <a:t>菜单栏</a:t>
                      </a:r>
                      <a:endParaRPr lang="en-US" sz="1150" dirty="0">
                        <a:latin typeface="PingFang SC" charset="0"/>
                        <a:ea typeface="PingFang SC"/>
                        <a:ea typeface="PingFang SC" charset="0"/>
                        <a:cs typeface="PingFang S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3434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434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434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434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B10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5F5F7"/>
                          </a:solidFill>
                          <a:latin typeface="PingFang SC" pitchFamily="34" charset="0"/>
                          <a:ea typeface="PingFang SC"/>
                          <a:ea typeface="PingFang SC" pitchFamily="34" charset="-122"/>
                          <a:cs typeface="PingFang SC" pitchFamily="34" charset="-120"/>
                        </a:rPr>
                        <a:t>剪贴板历史</a:t>
                      </a:r>
                      <a:endParaRPr lang="en-US" sz="1150" dirty="0">
                        <a:latin typeface="PingFang SC" charset="0"/>
                        <a:ea typeface="PingFang SC"/>
                        <a:ea typeface="PingFang SC" charset="0"/>
                        <a:cs typeface="PingFang S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3434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434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434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434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71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A84FF"/>
                          </a:solidFill>
                          <a:latin typeface="PingFang SC" pitchFamily="34" charset="0"/>
                          <a:ea typeface="PingFang SC"/>
                          <a:ea typeface="PingFang SC" pitchFamily="34" charset="-122"/>
                          <a:cs typeface="PingFang SC" pitchFamily="34" charset="-120"/>
                        </a:rPr>
                        <a:t>全类型+置顶</a:t>
                      </a:r>
                      <a:endParaRPr lang="en-US" sz="1150" dirty="0">
                        <a:latin typeface="PingFang SC" charset="0"/>
                        <a:ea typeface="PingFang SC"/>
                        <a:ea typeface="PingFang SC" charset="0"/>
                        <a:cs typeface="PingFang S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3434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434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434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434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B1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98989F"/>
                          </a:solidFill>
                          <a:latin typeface="PingFang SC" pitchFamily="34" charset="0"/>
                          <a:ea typeface="PingFang SC"/>
                          <a:ea typeface="PingFang SC" pitchFamily="34" charset="-122"/>
                          <a:cs typeface="PingFang SC" pitchFamily="34" charset="-120"/>
                        </a:rPr>
                        <a:t>有</a:t>
                      </a:r>
                      <a:endParaRPr lang="en-US" sz="1150" dirty="0">
                        <a:latin typeface="PingFang SC" charset="0"/>
                        <a:ea typeface="PingFang SC"/>
                        <a:ea typeface="PingFang SC" charset="0"/>
                        <a:cs typeface="PingFang S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3434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434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434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434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B1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98989F"/>
                          </a:solidFill>
                          <a:latin typeface="PingFang SC" pitchFamily="34" charset="0"/>
                          <a:ea typeface="PingFang SC"/>
                          <a:ea typeface="PingFang SC" pitchFamily="34" charset="-122"/>
                          <a:cs typeface="PingFang SC" pitchFamily="34" charset="-120"/>
                        </a:rPr>
                        <a:t>有</a:t>
                      </a:r>
                      <a:endParaRPr lang="en-US" sz="1150" dirty="0">
                        <a:latin typeface="PingFang SC" charset="0"/>
                        <a:ea typeface="PingFang SC"/>
                        <a:ea typeface="PingFang SC" charset="0"/>
                        <a:cs typeface="PingFang S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3434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434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434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434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B1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98989F"/>
                          </a:solidFill>
                          <a:latin typeface="PingFang SC" pitchFamily="34" charset="0"/>
                          <a:ea typeface="PingFang SC"/>
                          <a:ea typeface="PingFang SC" pitchFamily="34" charset="-122"/>
                          <a:cs typeface="PingFang SC" pitchFamily="34" charset="-120"/>
                        </a:rPr>
                        <a:t>—</a:t>
                      </a:r>
                      <a:endParaRPr lang="en-US" sz="1150" dirty="0">
                        <a:latin typeface="PingFang SC" charset="0"/>
                        <a:ea typeface="PingFang SC"/>
                        <a:ea typeface="PingFang SC" charset="0"/>
                        <a:cs typeface="PingFang S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3434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434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434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434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B1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98989F"/>
                          </a:solidFill>
                          <a:latin typeface="PingFang SC" pitchFamily="34" charset="0"/>
                          <a:ea typeface="PingFang SC"/>
                          <a:ea typeface="PingFang SC" pitchFamily="34" charset="-122"/>
                          <a:cs typeface="PingFang SC" pitchFamily="34" charset="-120"/>
                        </a:rPr>
                        <a:t>—</a:t>
                      </a:r>
                      <a:endParaRPr lang="en-US" sz="1150" dirty="0">
                        <a:latin typeface="PingFang SC" charset="0"/>
                        <a:ea typeface="PingFang SC"/>
                        <a:ea typeface="PingFang SC" charset="0"/>
                        <a:cs typeface="PingFang S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3434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434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434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434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B10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5F5F7"/>
                          </a:solidFill>
                          <a:latin typeface="PingFang SC" pitchFamily="34" charset="0"/>
                          <a:ea typeface="PingFang SC"/>
                          <a:ea typeface="PingFang SC" pitchFamily="34" charset="-122"/>
                          <a:cs typeface="PingFang SC" pitchFamily="34" charset="-120"/>
                        </a:rPr>
                        <a:t>自动粘贴</a:t>
                      </a:r>
                      <a:endParaRPr lang="en-US" sz="1150" dirty="0">
                        <a:latin typeface="PingFang SC" charset="0"/>
                        <a:ea typeface="PingFang SC"/>
                        <a:ea typeface="PingFang SC" charset="0"/>
                        <a:cs typeface="PingFang S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3434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434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434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434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71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A84FF"/>
                          </a:solidFill>
                          <a:latin typeface="PingFang SC" pitchFamily="34" charset="0"/>
                          <a:ea typeface="PingFang SC"/>
                          <a:ea typeface="PingFang SC" pitchFamily="34" charset="-122"/>
                          <a:cs typeface="PingFang SC" pitchFamily="34" charset="-120"/>
                        </a:rPr>
                        <a:t>CGEvent</a:t>
                      </a:r>
                      <a:endParaRPr lang="en-US" sz="1150" dirty="0">
                        <a:latin typeface="PingFang SC" charset="0"/>
                        <a:ea typeface="PingFang SC"/>
                        <a:ea typeface="PingFang SC" charset="0"/>
                        <a:cs typeface="PingFang S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3434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434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434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434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B1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98989F"/>
                          </a:solidFill>
                          <a:latin typeface="PingFang SC" pitchFamily="34" charset="0"/>
                          <a:ea typeface="PingFang SC"/>
                          <a:ea typeface="PingFang SC" pitchFamily="34" charset="-122"/>
                          <a:cs typeface="PingFang SC" pitchFamily="34" charset="-120"/>
                        </a:rPr>
                        <a:t>osascript</a:t>
                      </a:r>
                      <a:endParaRPr lang="en-US" sz="1150" dirty="0">
                        <a:latin typeface="PingFang SC" charset="0"/>
                        <a:ea typeface="PingFang SC"/>
                        <a:ea typeface="PingFang SC" charset="0"/>
                        <a:cs typeface="PingFang S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3434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434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434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434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B1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98989F"/>
                          </a:solidFill>
                          <a:latin typeface="PingFang SC" pitchFamily="34" charset="0"/>
                          <a:ea typeface="PingFang SC"/>
                          <a:ea typeface="PingFang SC" pitchFamily="34" charset="-122"/>
                          <a:cs typeface="PingFang SC" pitchFamily="34" charset="-120"/>
                        </a:rPr>
                        <a:t>仅复制</a:t>
                      </a:r>
                      <a:endParaRPr lang="en-US" sz="1150" dirty="0">
                        <a:latin typeface="PingFang SC" charset="0"/>
                        <a:ea typeface="PingFang SC"/>
                        <a:ea typeface="PingFang SC" charset="0"/>
                        <a:cs typeface="PingFang S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3434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434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434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434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B1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98989F"/>
                          </a:solidFill>
                          <a:latin typeface="PingFang SC" pitchFamily="34" charset="0"/>
                          <a:ea typeface="PingFang SC"/>
                          <a:ea typeface="PingFang SC" pitchFamily="34" charset="-122"/>
                          <a:cs typeface="PingFang SC" pitchFamily="34" charset="-120"/>
                        </a:rPr>
                        <a:t>—</a:t>
                      </a:r>
                      <a:endParaRPr lang="en-US" sz="1150" dirty="0">
                        <a:latin typeface="PingFang SC" charset="0"/>
                        <a:ea typeface="PingFang SC"/>
                        <a:ea typeface="PingFang SC" charset="0"/>
                        <a:cs typeface="PingFang S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3434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434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434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434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B1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98989F"/>
                          </a:solidFill>
                          <a:latin typeface="PingFang SC" pitchFamily="34" charset="0"/>
                          <a:ea typeface="PingFang SC"/>
                          <a:ea typeface="PingFang SC" pitchFamily="34" charset="-122"/>
                          <a:cs typeface="PingFang SC" pitchFamily="34" charset="-120"/>
                        </a:rPr>
                        <a:t>—</a:t>
                      </a:r>
                      <a:endParaRPr lang="en-US" sz="1150" dirty="0">
                        <a:latin typeface="PingFang SC" charset="0"/>
                        <a:ea typeface="PingFang SC"/>
                        <a:ea typeface="PingFang SC" charset="0"/>
                        <a:cs typeface="PingFang S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3434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434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434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434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B10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5F5F7"/>
                          </a:solidFill>
                          <a:latin typeface="PingFang SC" pitchFamily="34" charset="0"/>
                          <a:ea typeface="PingFang SC"/>
                          <a:ea typeface="PingFang SC" pitchFamily="34" charset="-122"/>
                          <a:cs typeface="PingFang SC" pitchFamily="34" charset="-120"/>
                        </a:rPr>
                        <a:t>截图+标注</a:t>
                      </a:r>
                      <a:endParaRPr lang="en-US" sz="1150" dirty="0">
                        <a:latin typeface="PingFang SC" charset="0"/>
                        <a:ea typeface="PingFang SC"/>
                        <a:ea typeface="PingFang SC" charset="0"/>
                        <a:cs typeface="PingFang S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3434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434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434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434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71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A84FF"/>
                          </a:solidFill>
                          <a:latin typeface="PingFang SC" pitchFamily="34" charset="0"/>
                          <a:ea typeface="PingFang SC"/>
                          <a:ea typeface="PingFang SC" pitchFamily="34" charset="-122"/>
                          <a:cs typeface="PingFang SC" pitchFamily="34" charset="-120"/>
                        </a:rPr>
                        <a:t>9 工具+撤销</a:t>
                      </a:r>
                      <a:endParaRPr lang="en-US" sz="1150" dirty="0">
                        <a:latin typeface="PingFang SC" charset="0"/>
                        <a:ea typeface="PingFang SC"/>
                        <a:ea typeface="PingFang SC" charset="0"/>
                        <a:cs typeface="PingFang S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3434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434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434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434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B1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98989F"/>
                          </a:solidFill>
                          <a:latin typeface="PingFang SC" pitchFamily="34" charset="0"/>
                          <a:ea typeface="PingFang SC"/>
                          <a:ea typeface="PingFang SC" pitchFamily="34" charset="-122"/>
                          <a:cs typeface="PingFang SC" pitchFamily="34" charset="-120"/>
                        </a:rPr>
                        <a:t>—</a:t>
                      </a:r>
                      <a:endParaRPr lang="en-US" sz="1150" dirty="0">
                        <a:latin typeface="PingFang SC" charset="0"/>
                        <a:ea typeface="PingFang SC"/>
                        <a:ea typeface="PingFang SC" charset="0"/>
                        <a:cs typeface="PingFang S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3434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434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434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434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B1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98989F"/>
                          </a:solidFill>
                          <a:latin typeface="PingFang SC" pitchFamily="34" charset="0"/>
                          <a:ea typeface="PingFang SC"/>
                          <a:ea typeface="PingFang SC" pitchFamily="34" charset="-122"/>
                          <a:cs typeface="PingFang SC" pitchFamily="34" charset="-120"/>
                        </a:rPr>
                        <a:t>—</a:t>
                      </a:r>
                      <a:endParaRPr lang="en-US" sz="1150" dirty="0">
                        <a:latin typeface="PingFang SC" charset="0"/>
                        <a:ea typeface="PingFang SC"/>
                        <a:ea typeface="PingFang SC" charset="0"/>
                        <a:cs typeface="PingFang S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3434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434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434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434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B1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98989F"/>
                          </a:solidFill>
                          <a:latin typeface="PingFang SC" pitchFamily="34" charset="0"/>
                          <a:ea typeface="PingFang SC"/>
                          <a:ea typeface="PingFang SC" pitchFamily="34" charset="-122"/>
                          <a:cs typeface="PingFang SC" pitchFamily="34" charset="-120"/>
                        </a:rPr>
                        <a:t>截图晾晒</a:t>
                      </a:r>
                      <a:endParaRPr lang="en-US" sz="1150" dirty="0">
                        <a:latin typeface="PingFang SC" charset="0"/>
                        <a:ea typeface="PingFang SC"/>
                        <a:ea typeface="PingFang SC" charset="0"/>
                        <a:cs typeface="PingFang S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3434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434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434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434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B1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98989F"/>
                          </a:solidFill>
                          <a:latin typeface="PingFang SC" pitchFamily="34" charset="0"/>
                          <a:ea typeface="PingFang SC"/>
                          <a:ea typeface="PingFang SC" pitchFamily="34" charset="-122"/>
                          <a:cs typeface="PingFang SC" pitchFamily="34" charset="-120"/>
                        </a:rPr>
                        <a:t>4 工具不可回改</a:t>
                      </a:r>
                      <a:endParaRPr lang="en-US" sz="1150" dirty="0">
                        <a:latin typeface="PingFang SC" charset="0"/>
                        <a:ea typeface="PingFang SC"/>
                        <a:ea typeface="PingFang SC" charset="0"/>
                        <a:cs typeface="PingFang S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3434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434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434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434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B10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5F5F7"/>
                          </a:solidFill>
                          <a:latin typeface="PingFang SC" pitchFamily="34" charset="0"/>
                          <a:ea typeface="PingFang SC"/>
                          <a:ea typeface="PingFang SC" pitchFamily="34" charset="-122"/>
                          <a:cs typeface="PingFang SC" pitchFamily="34" charset="-120"/>
                        </a:rPr>
                        <a:t>离线 OCR</a:t>
                      </a:r>
                      <a:endParaRPr lang="en-US" sz="1150" dirty="0">
                        <a:latin typeface="PingFang SC" charset="0"/>
                        <a:ea typeface="PingFang SC"/>
                        <a:ea typeface="PingFang SC" charset="0"/>
                        <a:cs typeface="PingFang S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3434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434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434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434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71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A84FF"/>
                          </a:solidFill>
                          <a:latin typeface="PingFang SC" pitchFamily="34" charset="0"/>
                          <a:ea typeface="PingFang SC"/>
                          <a:ea typeface="PingFang SC" pitchFamily="34" charset="-122"/>
                          <a:cs typeface="PingFang SC" pitchFamily="34" charset="-120"/>
                        </a:rPr>
                        <a:t>中文+预览</a:t>
                      </a:r>
                      <a:endParaRPr lang="en-US" sz="1150" dirty="0">
                        <a:latin typeface="PingFang SC" charset="0"/>
                        <a:ea typeface="PingFang SC"/>
                        <a:ea typeface="PingFang SC" charset="0"/>
                        <a:cs typeface="PingFang S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3434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434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434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434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B1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98989F"/>
                          </a:solidFill>
                          <a:latin typeface="PingFang SC" pitchFamily="34" charset="0"/>
                          <a:ea typeface="PingFang SC"/>
                          <a:ea typeface="PingFang SC" pitchFamily="34" charset="-122"/>
                          <a:cs typeface="PingFang SC" pitchFamily="34" charset="-120"/>
                        </a:rPr>
                        <a:t>—</a:t>
                      </a:r>
                      <a:endParaRPr lang="en-US" sz="1150" dirty="0">
                        <a:latin typeface="PingFang SC" charset="0"/>
                        <a:ea typeface="PingFang SC"/>
                        <a:ea typeface="PingFang SC" charset="0"/>
                        <a:cs typeface="PingFang S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3434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434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434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434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B1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98989F"/>
                          </a:solidFill>
                          <a:latin typeface="PingFang SC" pitchFamily="34" charset="0"/>
                          <a:ea typeface="PingFang SC"/>
                          <a:ea typeface="PingFang SC" pitchFamily="34" charset="-122"/>
                          <a:cs typeface="PingFang SC" pitchFamily="34" charset="-120"/>
                        </a:rPr>
                        <a:t>圈选搜索</a:t>
                      </a:r>
                      <a:endParaRPr lang="en-US" sz="1150" dirty="0">
                        <a:latin typeface="PingFang SC" charset="0"/>
                        <a:ea typeface="PingFang SC"/>
                        <a:ea typeface="PingFang SC" charset="0"/>
                        <a:cs typeface="PingFang S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3434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434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434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434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B1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98989F"/>
                          </a:solidFill>
                          <a:latin typeface="PingFang SC" pitchFamily="34" charset="0"/>
                          <a:ea typeface="PingFang SC"/>
                          <a:ea typeface="PingFang SC" pitchFamily="34" charset="-122"/>
                          <a:cs typeface="PingFang SC" pitchFamily="34" charset="-120"/>
                        </a:rPr>
                        <a:t>—</a:t>
                      </a:r>
                      <a:endParaRPr lang="en-US" sz="1150" dirty="0">
                        <a:latin typeface="PingFang SC" charset="0"/>
                        <a:ea typeface="PingFang SC"/>
                        <a:ea typeface="PingFang SC" charset="0"/>
                        <a:cs typeface="PingFang S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3434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434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434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434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B1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98989F"/>
                          </a:solidFill>
                          <a:latin typeface="PingFang SC" pitchFamily="34" charset="0"/>
                          <a:ea typeface="PingFang SC"/>
                          <a:ea typeface="PingFang SC" pitchFamily="34" charset="-122"/>
                          <a:cs typeface="PingFang SC" pitchFamily="34" charset="-120"/>
                        </a:rPr>
                        <a:t>无中文</a:t>
                      </a:r>
                      <a:endParaRPr lang="en-US" sz="1150" dirty="0">
                        <a:latin typeface="PingFang SC" charset="0"/>
                        <a:ea typeface="PingFang SC"/>
                        <a:ea typeface="PingFang SC" charset="0"/>
                        <a:cs typeface="PingFang S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3434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434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434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434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B10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5F5F7"/>
                          </a:solidFill>
                          <a:latin typeface="PingFang SC" pitchFamily="34" charset="0"/>
                          <a:ea typeface="PingFang SC"/>
                          <a:ea typeface="PingFang SC" pitchFamily="34" charset="-122"/>
                          <a:cs typeface="PingFang SC" pitchFamily="34" charset="-120"/>
                        </a:rPr>
                        <a:t>静态加密</a:t>
                      </a:r>
                      <a:endParaRPr lang="en-US" sz="1150" dirty="0">
                        <a:latin typeface="PingFang SC" charset="0"/>
                        <a:ea typeface="PingFang SC"/>
                        <a:ea typeface="PingFang SC" charset="0"/>
                        <a:cs typeface="PingFang S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3434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434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434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434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71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A84FF"/>
                          </a:solidFill>
                          <a:latin typeface="PingFang SC" pitchFamily="34" charset="0"/>
                          <a:ea typeface="PingFang SC"/>
                          <a:ea typeface="PingFang SC" pitchFamily="34" charset="-122"/>
                          <a:cs typeface="PingFang SC" pitchFamily="34" charset="-120"/>
                        </a:rPr>
                        <a:t>AES-GCM</a:t>
                      </a:r>
                      <a:endParaRPr lang="en-US" sz="1150" dirty="0">
                        <a:latin typeface="PingFang SC" charset="0"/>
                        <a:ea typeface="PingFang SC"/>
                        <a:ea typeface="PingFang SC" charset="0"/>
                        <a:cs typeface="PingFang S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3434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434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434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434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B1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98989F"/>
                          </a:solidFill>
                          <a:latin typeface="PingFang SC" pitchFamily="34" charset="0"/>
                          <a:ea typeface="PingFang SC"/>
                          <a:ea typeface="PingFang SC" pitchFamily="34" charset="-122"/>
                          <a:cs typeface="PingFang SC" pitchFamily="34" charset="-120"/>
                        </a:rPr>
                        <a:t>Argon2</a:t>
                      </a:r>
                      <a:endParaRPr lang="en-US" sz="1150" dirty="0">
                        <a:latin typeface="PingFang SC" charset="0"/>
                        <a:ea typeface="PingFang SC"/>
                        <a:ea typeface="PingFang SC" charset="0"/>
                        <a:cs typeface="PingFang S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3434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434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434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434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B1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98989F"/>
                          </a:solidFill>
                          <a:latin typeface="PingFang SC" pitchFamily="34" charset="0"/>
                          <a:ea typeface="PingFang SC"/>
                          <a:ea typeface="PingFang SC" pitchFamily="34" charset="-122"/>
                          <a:cs typeface="PingFang SC" pitchFamily="34" charset="-120"/>
                        </a:rPr>
                        <a:t>分文件加密</a:t>
                      </a:r>
                      <a:endParaRPr lang="en-US" sz="1150" dirty="0">
                        <a:latin typeface="PingFang SC" charset="0"/>
                        <a:ea typeface="PingFang SC"/>
                        <a:ea typeface="PingFang SC" charset="0"/>
                        <a:cs typeface="PingFang S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3434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434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434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434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B1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98989F"/>
                          </a:solidFill>
                          <a:latin typeface="PingFang SC" pitchFamily="34" charset="0"/>
                          <a:ea typeface="PingFang SC"/>
                          <a:ea typeface="PingFang SC" pitchFamily="34" charset="-122"/>
                          <a:cs typeface="PingFang SC" pitchFamily="34" charset="-120"/>
                        </a:rPr>
                        <a:t>—</a:t>
                      </a:r>
                      <a:endParaRPr lang="en-US" sz="1150" dirty="0">
                        <a:latin typeface="PingFang SC" charset="0"/>
                        <a:ea typeface="PingFang SC"/>
                        <a:ea typeface="PingFang SC" charset="0"/>
                        <a:cs typeface="PingFang S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3434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434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434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434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B1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98989F"/>
                          </a:solidFill>
                          <a:latin typeface="PingFang SC" pitchFamily="34" charset="0"/>
                          <a:ea typeface="PingFang SC"/>
                          <a:ea typeface="PingFang SC" pitchFamily="34" charset="-122"/>
                          <a:cs typeface="PingFang SC" pitchFamily="34" charset="-120"/>
                        </a:rPr>
                        <a:t>—</a:t>
                      </a:r>
                      <a:endParaRPr lang="en-US" sz="1150" dirty="0">
                        <a:latin typeface="PingFang SC" charset="0"/>
                        <a:ea typeface="PingFang SC"/>
                        <a:ea typeface="PingFang SC" charset="0"/>
                        <a:cs typeface="PingFang S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3434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434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434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434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B10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5F5F7"/>
                          </a:solidFill>
                          <a:latin typeface="PingFang SC" pitchFamily="34" charset="0"/>
                          <a:ea typeface="PingFang SC"/>
                          <a:ea typeface="PingFang SC" pitchFamily="34" charset="-122"/>
                          <a:cs typeface="PingFang SC" pitchFamily="34" charset="-120"/>
                        </a:rPr>
                        <a:t>敏感过滤</a:t>
                      </a:r>
                      <a:endParaRPr lang="en-US" sz="1150" dirty="0">
                        <a:latin typeface="PingFang SC" charset="0"/>
                        <a:ea typeface="PingFang SC"/>
                        <a:ea typeface="PingFang SC" charset="0"/>
                        <a:cs typeface="PingFang S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3434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434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434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434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71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A84FF"/>
                          </a:solidFill>
                          <a:latin typeface="PingFang SC" pitchFamily="34" charset="0"/>
                          <a:ea typeface="PingFang SC"/>
                          <a:ea typeface="PingFang SC" pitchFamily="34" charset="-122"/>
                          <a:cs typeface="PingFang SC" pitchFamily="34" charset="-120"/>
                        </a:rPr>
                        <a:t>实测生效</a:t>
                      </a:r>
                      <a:endParaRPr lang="en-US" sz="1150" dirty="0">
                        <a:latin typeface="PingFang SC" charset="0"/>
                        <a:ea typeface="PingFang SC"/>
                        <a:ea typeface="PingFang SC" charset="0"/>
                        <a:cs typeface="PingFang S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3434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434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434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434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B1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98989F"/>
                          </a:solidFill>
                          <a:latin typeface="PingFang SC" pitchFamily="34" charset="0"/>
                          <a:ea typeface="PingFang SC"/>
                          <a:ea typeface="PingFang SC" pitchFamily="34" charset="-122"/>
                          <a:cs typeface="PingFang SC" pitchFamily="34" charset="-120"/>
                        </a:rPr>
                        <a:t>死代码</a:t>
                      </a:r>
                      <a:endParaRPr lang="en-US" sz="1150" dirty="0">
                        <a:latin typeface="PingFang SC" charset="0"/>
                        <a:ea typeface="PingFang SC"/>
                        <a:ea typeface="PingFang SC" charset="0"/>
                        <a:cs typeface="PingFang S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3434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434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434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434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B1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98989F"/>
                          </a:solidFill>
                          <a:latin typeface="PingFang SC" pitchFamily="34" charset="0"/>
                          <a:ea typeface="PingFang SC"/>
                          <a:ea typeface="PingFang SC" pitchFamily="34" charset="-122"/>
                          <a:cs typeface="PingFang SC" pitchFamily="34" charset="-120"/>
                        </a:rPr>
                        <a:t>12 家清单</a:t>
                      </a:r>
                      <a:endParaRPr lang="en-US" sz="1150" dirty="0">
                        <a:latin typeface="PingFang SC" charset="0"/>
                        <a:ea typeface="PingFang SC"/>
                        <a:ea typeface="PingFang SC" charset="0"/>
                        <a:cs typeface="PingFang S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3434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434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434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434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B1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98989F"/>
                          </a:solidFill>
                          <a:latin typeface="PingFang SC" pitchFamily="34" charset="0"/>
                          <a:ea typeface="PingFang SC"/>
                          <a:ea typeface="PingFang SC" pitchFamily="34" charset="-122"/>
                          <a:cs typeface="PingFang SC" pitchFamily="34" charset="-120"/>
                        </a:rPr>
                        <a:t>—</a:t>
                      </a:r>
                      <a:endParaRPr lang="en-US" sz="1150" dirty="0">
                        <a:latin typeface="PingFang SC" charset="0"/>
                        <a:ea typeface="PingFang SC"/>
                        <a:ea typeface="PingFang SC" charset="0"/>
                        <a:cs typeface="PingFang S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3434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434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434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434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B1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98989F"/>
                          </a:solidFill>
                          <a:latin typeface="PingFang SC" pitchFamily="34" charset="0"/>
                          <a:ea typeface="PingFang SC"/>
                          <a:ea typeface="PingFang SC" pitchFamily="34" charset="-122"/>
                          <a:cs typeface="PingFang SC" pitchFamily="34" charset="-120"/>
                        </a:rPr>
                        <a:t>—</a:t>
                      </a:r>
                      <a:endParaRPr lang="en-US" sz="1150" dirty="0">
                        <a:latin typeface="PingFang SC" charset="0"/>
                        <a:ea typeface="PingFang SC"/>
                        <a:ea typeface="PingFang SC" charset="0"/>
                        <a:cs typeface="PingFang S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3434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434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434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434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B10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5F5F7"/>
                          </a:solidFill>
                          <a:latin typeface="PingFang SC" pitchFamily="34" charset="0"/>
                          <a:ea typeface="PingFang SC"/>
                          <a:ea typeface="PingFang SC" pitchFamily="34" charset="-122"/>
                          <a:cs typeface="PingFang SC" pitchFamily="34" charset="-120"/>
                        </a:rPr>
                        <a:t>测试</a:t>
                      </a:r>
                      <a:endParaRPr lang="en-US" sz="1150" dirty="0">
                        <a:latin typeface="PingFang SC" charset="0"/>
                        <a:ea typeface="PingFang SC"/>
                        <a:ea typeface="PingFang SC" charset="0"/>
                        <a:cs typeface="PingFang S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3434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434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434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434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71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A84FF"/>
                          </a:solidFill>
                          <a:latin typeface="PingFang SC" pitchFamily="34" charset="0"/>
                          <a:ea typeface="PingFang SC"/>
                          <a:ea typeface="PingFang SC" pitchFamily="34" charset="-122"/>
                          <a:cs typeface="PingFang SC" pitchFamily="34" charset="-120"/>
                        </a:rPr>
                        <a:t>113 项</a:t>
                      </a:r>
                      <a:endParaRPr lang="en-US" sz="1150" dirty="0">
                        <a:latin typeface="PingFang SC" charset="0"/>
                        <a:ea typeface="PingFang SC"/>
                        <a:ea typeface="PingFang SC" charset="0"/>
                        <a:cs typeface="PingFang S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3434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434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434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434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B1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98989F"/>
                          </a:solidFill>
                          <a:latin typeface="PingFang SC" pitchFamily="34" charset="0"/>
                          <a:ea typeface="PingFang SC"/>
                          <a:ea typeface="PingFang SC" pitchFamily="34" charset="-122"/>
                          <a:cs typeface="PingFang SC" pitchFamily="34" charset="-120"/>
                        </a:rPr>
                        <a:t>26 项</a:t>
                      </a:r>
                      <a:endParaRPr lang="en-US" sz="1150" dirty="0">
                        <a:latin typeface="PingFang SC" charset="0"/>
                        <a:ea typeface="PingFang SC"/>
                        <a:ea typeface="PingFang SC" charset="0"/>
                        <a:cs typeface="PingFang S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3434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434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434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434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B1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98989F"/>
                          </a:solidFill>
                          <a:latin typeface="PingFang SC" pitchFamily="34" charset="0"/>
                          <a:ea typeface="PingFang SC"/>
                          <a:ea typeface="PingFang SC" pitchFamily="34" charset="-122"/>
                          <a:cs typeface="PingFang SC" pitchFamily="34" charset="-120"/>
                        </a:rPr>
                        <a:t>54 文件</a:t>
                      </a:r>
                      <a:endParaRPr lang="en-US" sz="1150" dirty="0">
                        <a:latin typeface="PingFang SC" charset="0"/>
                        <a:ea typeface="PingFang SC"/>
                        <a:ea typeface="PingFang SC" charset="0"/>
                        <a:cs typeface="PingFang S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3434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434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434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434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B1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98989F"/>
                          </a:solidFill>
                          <a:latin typeface="PingFang SC" pitchFamily="34" charset="0"/>
                          <a:ea typeface="PingFang SC"/>
                          <a:ea typeface="PingFang SC" pitchFamily="34" charset="-122"/>
                          <a:cs typeface="PingFang SC" pitchFamily="34" charset="-120"/>
                        </a:rPr>
                        <a:t>0</a:t>
                      </a:r>
                      <a:endParaRPr lang="en-US" sz="1150" dirty="0">
                        <a:latin typeface="PingFang SC" charset="0"/>
                        <a:ea typeface="PingFang SC"/>
                        <a:ea typeface="PingFang SC" charset="0"/>
                        <a:cs typeface="PingFang S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3434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434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434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434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B1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98989F"/>
                          </a:solidFill>
                          <a:latin typeface="PingFang SC" pitchFamily="34" charset="0"/>
                          <a:ea typeface="PingFang SC"/>
                          <a:ea typeface="PingFang SC" pitchFamily="34" charset="-122"/>
                          <a:cs typeface="PingFang SC" pitchFamily="34" charset="-120"/>
                        </a:rPr>
                        <a:t>0</a:t>
                      </a:r>
                      <a:endParaRPr lang="en-US" sz="1150" dirty="0">
                        <a:latin typeface="PingFang SC" charset="0"/>
                        <a:ea typeface="PingFang SC"/>
                        <a:ea typeface="PingFang SC" charset="0"/>
                        <a:cs typeface="PingFang S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3434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434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434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434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B10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502920" y="6172200"/>
            <a:ext cx="111831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8989F"/>
                </a:solidFill>
                <a:latin typeface="PingFang SC" pitchFamily="34" charset="0"/>
                <a:ea typeface="PingFang SC"/>
                <a:ea typeface="PingFang SC" pitchFamily="34" charset="-122"/>
                <a:cs typeface="PingFang SC" pitchFamily="34" charset="-120"/>
              </a:rPr>
              <a:t>Sapphire 功能最广（18 万行、含遥测与私有 API）；ClipIsland 的差异化 = 刘海原生 + 全链路整合 + 可验证的工程纪律。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0B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17236" y="0"/>
            <a:ext cx="1554480" cy="274320"/>
          </a:xfrm>
          <a:prstGeom prst="roundRect">
            <a:avLst>
              <a:gd name="adj" fmla="val 20000"/>
            </a:avLst>
          </a:prstGeom>
          <a:solidFill>
            <a:srgbClr val="22222C"/>
          </a:solidFill>
          <a:ln w="9525">
            <a:solidFill>
              <a:srgbClr val="34343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317236" y="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8989F"/>
                </a:solidFill>
                <a:latin typeface="PingFang SC" pitchFamily="34" charset="0"/>
                <a:ea typeface="PingFang SC"/>
                <a:ea typeface="PingFang SC" pitchFamily="34" charset="-122"/>
                <a:cs typeface="PingFang SC" pitchFamily="34" charset="-120"/>
              </a:rPr>
              <a:t>路线图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502920"/>
            <a:ext cx="111831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5F5F7"/>
                </a:solidFill>
                <a:latin typeface="PingFang SC" pitchFamily="34" charset="0"/>
                <a:ea typeface="PingFang SC"/>
                <a:ea typeface="PingFang SC" pitchFamily="34" charset="-122"/>
                <a:cs typeface="PingFang SC" pitchFamily="34" charset="-120"/>
              </a:rPr>
              <a:t>下一步：把打磨层补齐到 A 级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02920" y="1170432"/>
            <a:ext cx="111831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8989F"/>
                </a:solidFill>
                <a:latin typeface="PingFang SC" pitchFamily="34" charset="0"/>
                <a:ea typeface="PingFang SC"/>
                <a:ea typeface="PingFang SC" pitchFamily="34" charset="-122"/>
                <a:cs typeface="PingFang SC" pitchFamily="34" charset="-120"/>
              </a:rPr>
              <a:t>每一项都来自源码级对比的可量化差距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02920" y="2103120"/>
            <a:ext cx="2057400" cy="566928"/>
          </a:xfrm>
          <a:prstGeom prst="roundRect">
            <a:avLst>
              <a:gd name="adj" fmla="val 14516"/>
            </a:avLst>
          </a:prstGeom>
          <a:solidFill>
            <a:srgbClr val="17171E"/>
          </a:solidFill>
          <a:ln w="12700">
            <a:solidFill>
              <a:srgbClr val="0A84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2103120"/>
            <a:ext cx="2057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A84FF"/>
                </a:solidFill>
                <a:latin typeface="PingFang SC" pitchFamily="34" charset="0"/>
                <a:ea typeface="PingFang SC"/>
                <a:ea typeface="PingFang SC" pitchFamily="34" charset="-122"/>
                <a:cs typeface="PingFang SC" pitchFamily="34" charset="-120"/>
              </a:rPr>
              <a:t>P0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2551176" y="2176272"/>
            <a:ext cx="256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8989F"/>
                </a:solidFill>
                <a:latin typeface="PingFang SC" pitchFamily="34" charset="0"/>
                <a:ea typeface="PingFang SC"/>
                <a:ea typeface="PingFang SC" pitchFamily="34" charset="-122"/>
                <a:cs typeface="PingFang SC" pitchFamily="34" charset="-120"/>
              </a:rPr>
              <a:t>→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57200" y="2834640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5F5F7"/>
                </a:solidFill>
                <a:latin typeface="PingFang SC" pitchFamily="34" charset="0"/>
                <a:ea typeface="PingFang SC"/>
                <a:ea typeface="PingFang SC" pitchFamily="34" charset="-122"/>
                <a:cs typeface="PingFang SC" pitchFamily="34" charset="-120"/>
              </a:rPr>
              <a:t>动画档位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429768" y="3200400"/>
            <a:ext cx="221284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8989F"/>
                </a:solidFill>
                <a:latin typeface="PingFang SC" pitchFamily="34" charset="0"/>
                <a:ea typeface="PingFang SC"/>
                <a:ea typeface="PingFang SC" pitchFamily="34" charset="-122"/>
                <a:cs typeface="PingFang SC" pitchFamily="34" charset="-120"/>
              </a:rPr>
              <a:t>Sapphire 式 Snappy/Fluid/Calm 三档 + 肩部圆角形状，内容与窗口单一物理驱动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2798064" y="2103120"/>
            <a:ext cx="2057400" cy="566928"/>
          </a:xfrm>
          <a:prstGeom prst="roundRect">
            <a:avLst>
              <a:gd name="adj" fmla="val 14516"/>
            </a:avLst>
          </a:prstGeom>
          <a:solidFill>
            <a:srgbClr val="17171E"/>
          </a:solidFill>
          <a:ln w="12700">
            <a:solidFill>
              <a:srgbClr val="0A84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798064" y="2103120"/>
            <a:ext cx="2057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A84FF"/>
                </a:solidFill>
                <a:latin typeface="PingFang SC" pitchFamily="34" charset="0"/>
                <a:ea typeface="PingFang SC"/>
                <a:ea typeface="PingFang SC" pitchFamily="34" charset="-122"/>
                <a:cs typeface="PingFang SC" pitchFamily="34" charset="-120"/>
              </a:rPr>
              <a:t>P0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846320" y="2176272"/>
            <a:ext cx="256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8989F"/>
                </a:solidFill>
                <a:latin typeface="PingFang SC" pitchFamily="34" charset="0"/>
                <a:ea typeface="PingFang SC"/>
                <a:ea typeface="PingFang SC" pitchFamily="34" charset="-122"/>
                <a:cs typeface="PingFang SC" pitchFamily="34" charset="-120"/>
              </a:rPr>
              <a:t>→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2752344" y="2834640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5F5F7"/>
                </a:solidFill>
                <a:latin typeface="PingFang SC" pitchFamily="34" charset="0"/>
                <a:ea typeface="PingFang SC"/>
                <a:ea typeface="PingFang SC" pitchFamily="34" charset="-122"/>
                <a:cs typeface="PingFang SC" pitchFamily="34" charset="-120"/>
              </a:rPr>
              <a:t>事件驱动监控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2724912" y="3200400"/>
            <a:ext cx="221284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8989F"/>
                </a:solidFill>
                <a:latin typeface="PingFang SC" pitchFamily="34" charset="0"/>
                <a:ea typeface="PingFang SC"/>
                <a:ea typeface="PingFang SC" pitchFamily="34" charset="-122"/>
                <a:cs typeface="PingFang SC" pitchFamily="34" charset="-120"/>
              </a:rPr>
              <a:t>全局 ⌘C 键盘事件 + 自适应轮询，功耗再降、捕获更快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093208" y="2103120"/>
            <a:ext cx="2057400" cy="566928"/>
          </a:xfrm>
          <a:prstGeom prst="roundRect">
            <a:avLst>
              <a:gd name="adj" fmla="val 14516"/>
            </a:avLst>
          </a:prstGeom>
          <a:solidFill>
            <a:srgbClr val="17171E"/>
          </a:solidFill>
          <a:ln w="12700">
            <a:solidFill>
              <a:srgbClr val="0A84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93208" y="2103120"/>
            <a:ext cx="2057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A84FF"/>
                </a:solidFill>
                <a:latin typeface="PingFang SC" pitchFamily="34" charset="0"/>
                <a:ea typeface="PingFang SC"/>
                <a:ea typeface="PingFang SC" pitchFamily="34" charset="-122"/>
                <a:cs typeface="PingFang SC" pitchFamily="34" charset="-120"/>
              </a:rPr>
              <a:t>P1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7141464" y="2176272"/>
            <a:ext cx="256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8989F"/>
                </a:solidFill>
                <a:latin typeface="PingFang SC" pitchFamily="34" charset="0"/>
                <a:ea typeface="PingFang SC"/>
                <a:ea typeface="PingFang SC" pitchFamily="34" charset="-122"/>
                <a:cs typeface="PingFang SC" pitchFamily="34" charset="-120"/>
              </a:rPr>
              <a:t>→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5047488" y="2834640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5F5F7"/>
                </a:solidFill>
                <a:latin typeface="PingFang SC" pitchFamily="34" charset="0"/>
                <a:ea typeface="PingFang SC"/>
                <a:ea typeface="PingFang SC" pitchFamily="34" charset="-122"/>
                <a:cs typeface="PingFang SC" pitchFamily="34" charset="-120"/>
              </a:rPr>
              <a:t>本地化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5020056" y="3200400"/>
            <a:ext cx="221284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8989F"/>
                </a:solidFill>
                <a:latin typeface="PingFang SC" pitchFamily="34" charset="0"/>
                <a:ea typeface="PingFang SC"/>
                <a:ea typeface="PingFang SC" pitchFamily="34" charset="-122"/>
                <a:cs typeface="PingFang SC" pitchFamily="34" charset="-120"/>
              </a:rPr>
              <a:t>L() 骨架先落 zh-Hans/en，对齐 tendedero 的 10 语言实践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7388352" y="2103120"/>
            <a:ext cx="2057400" cy="566928"/>
          </a:xfrm>
          <a:prstGeom prst="roundRect">
            <a:avLst>
              <a:gd name="adj" fmla="val 14516"/>
            </a:avLst>
          </a:prstGeom>
          <a:solidFill>
            <a:srgbClr val="17171E"/>
          </a:solidFill>
          <a:ln w="12700">
            <a:solidFill>
              <a:srgbClr val="0A84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388352" y="2103120"/>
            <a:ext cx="2057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A84FF"/>
                </a:solidFill>
                <a:latin typeface="PingFang SC" pitchFamily="34" charset="0"/>
                <a:ea typeface="PingFang SC"/>
                <a:ea typeface="PingFang SC" pitchFamily="34" charset="-122"/>
                <a:cs typeface="PingFang SC" pitchFamily="34" charset="-120"/>
              </a:rPr>
              <a:t>P1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9436608" y="2176272"/>
            <a:ext cx="256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8989F"/>
                </a:solidFill>
                <a:latin typeface="PingFang SC" pitchFamily="34" charset="0"/>
                <a:ea typeface="PingFang SC"/>
                <a:ea typeface="PingFang SC" pitchFamily="34" charset="-122"/>
                <a:cs typeface="PingFang SC" pitchFamily="34" charset="-120"/>
              </a:rPr>
              <a:t>→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7342632" y="2834640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5F5F7"/>
                </a:solidFill>
                <a:latin typeface="PingFang SC" pitchFamily="34" charset="0"/>
                <a:ea typeface="PingFang SC"/>
                <a:ea typeface="PingFang SC" pitchFamily="34" charset="-122"/>
                <a:cs typeface="PingFang SC" pitchFamily="34" charset="-120"/>
              </a:rPr>
              <a:t>Developer ID</a:t>
            </a:r>
            <a:endParaRPr lang="en-US" sz="1450" dirty="0"/>
          </a:p>
        </p:txBody>
      </p:sp>
      <p:sp>
        <p:nvSpPr>
          <p:cNvPr id="25" name="Text 23"/>
          <p:cNvSpPr/>
          <p:nvPr/>
        </p:nvSpPr>
        <p:spPr>
          <a:xfrm>
            <a:off x="7315200" y="3200400"/>
            <a:ext cx="221284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8989F"/>
                </a:solidFill>
                <a:latin typeface="PingFang SC" pitchFamily="34" charset="0"/>
                <a:ea typeface="PingFang SC"/>
                <a:ea typeface="PingFang SC" pitchFamily="34" charset="-122"/>
                <a:cs typeface="PingFang SC" pitchFamily="34" charset="-120"/>
              </a:rPr>
              <a:t>签名 + 公证，告别右键打开和 xattr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9683496" y="2103120"/>
            <a:ext cx="2057400" cy="566928"/>
          </a:xfrm>
          <a:prstGeom prst="roundRect">
            <a:avLst>
              <a:gd name="adj" fmla="val 14516"/>
            </a:avLst>
          </a:prstGeom>
          <a:solidFill>
            <a:srgbClr val="17171E"/>
          </a:solidFill>
          <a:ln w="12700">
            <a:solidFill>
              <a:srgbClr val="0A84F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683496" y="2103120"/>
            <a:ext cx="2057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A84FF"/>
                </a:solidFill>
                <a:latin typeface="PingFang SC" pitchFamily="34" charset="0"/>
                <a:ea typeface="PingFang SC"/>
                <a:ea typeface="PingFang SC" pitchFamily="34" charset="-122"/>
                <a:cs typeface="PingFang SC" pitchFamily="34" charset="-120"/>
              </a:rPr>
              <a:t>P1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9637776" y="2834640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5F5F7"/>
                </a:solidFill>
                <a:latin typeface="PingFang SC" pitchFamily="34" charset="0"/>
                <a:ea typeface="PingFang SC"/>
                <a:ea typeface="PingFang SC" pitchFamily="34" charset="-122"/>
                <a:cs typeface="PingFang SC" pitchFamily="34" charset="-120"/>
              </a:rPr>
              <a:t>岛模块扩展</a:t>
            </a:r>
            <a:endParaRPr lang="en-US" sz="1450" dirty="0"/>
          </a:p>
        </p:txBody>
      </p:sp>
      <p:sp>
        <p:nvSpPr>
          <p:cNvPr id="29" name="Text 27"/>
          <p:cNvSpPr/>
          <p:nvPr/>
        </p:nvSpPr>
        <p:spPr>
          <a:xfrm>
            <a:off x="9610344" y="3200400"/>
            <a:ext cx="221284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8989F"/>
                </a:solidFill>
                <a:latin typeface="PingFang SC" pitchFamily="34" charset="0"/>
                <a:ea typeface="PingFang SC"/>
                <a:ea typeface="PingFang SC" pitchFamily="34" charset="-122"/>
                <a:cs typeface="PingFang SC" pitchFamily="34" charset="-120"/>
              </a:rPr>
              <a:t>天气/番茄钟等插件位（架构已留模块化接口）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502920" y="4892040"/>
            <a:ext cx="111831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8989F"/>
                </a:solidFill>
                <a:latin typeface="PingFang SC" pitchFamily="34" charset="0"/>
                <a:ea typeface="PingFang SC"/>
                <a:ea typeface="PingFang SC" pitchFamily="34" charset="-122"/>
                <a:cs typeface="PingFang SC" pitchFamily="34" charset="-120"/>
              </a:rPr>
              <a:t>已有基础：刘海几何/弹簧动画/加密/截图管线均已模块化，扩展不推倒重来。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0B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17236" y="0"/>
            <a:ext cx="1554480" cy="274320"/>
          </a:xfrm>
          <a:prstGeom prst="roundRect">
            <a:avLst>
              <a:gd name="adj" fmla="val 20000"/>
            </a:avLst>
          </a:prstGeom>
          <a:solidFill>
            <a:srgbClr val="22222C"/>
          </a:solidFill>
          <a:ln w="9525">
            <a:solidFill>
              <a:srgbClr val="34343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317236" y="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8989F"/>
                </a:solidFill>
                <a:latin typeface="PingFang SC" pitchFamily="34" charset="0"/>
                <a:ea typeface="PingFang SC"/>
                <a:ea typeface="PingFang SC" pitchFamily="34" charset="-122"/>
                <a:cs typeface="PingFang SC" pitchFamily="34" charset="-120"/>
              </a:rPr>
              <a:t>立即体验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2103120"/>
            <a:ext cx="1118311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5F5F7"/>
                </a:solidFill>
                <a:latin typeface="PingFang SC" pitchFamily="34" charset="0"/>
                <a:ea typeface="PingFang SC"/>
                <a:ea typeface="PingFang SC" pitchFamily="34" charset="-122"/>
                <a:cs typeface="PingFang SC" pitchFamily="34" charset="-120"/>
              </a:rPr>
              <a:t>少装三个常驻工具，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502920" y="2880360"/>
            <a:ext cx="1118311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A84FF"/>
                </a:solidFill>
                <a:latin typeface="PingFang SC" pitchFamily="34" charset="0"/>
                <a:ea typeface="PingFang SC"/>
                <a:ea typeface="PingFang SC" pitchFamily="34" charset="-122"/>
                <a:cs typeface="PingFang SC" pitchFamily="34" charset="-120"/>
              </a:rPr>
              <a:t>把刘海还给效率。</a:t>
            </a:r>
            <a:endParaRPr lang="en-US" sz="4000" dirty="0"/>
          </a:p>
        </p:txBody>
      </p:sp>
      <p:pic>
        <p:nvPicPr>
          <p:cNvPr id="6" name="Image 0" descr="/tmp/ci-render/strip-exten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488436" y="3977640"/>
            <a:ext cx="5212080" cy="41605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02920" y="4846320"/>
            <a:ext cx="111831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8989F"/>
                </a:solidFill>
                <a:latin typeface="PingFang SC" pitchFamily="34" charset="0"/>
                <a:ea typeface="PingFang SC"/>
                <a:ea typeface="PingFang SC" pitchFamily="34" charset="-122"/>
                <a:cs typeface="PingFang SC" pitchFamily="34" charset="-120"/>
              </a:rPr>
              <a:t>github.com/ZiyueZhang/ClipIsland · Releases 下载 ClipIsland.app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502920" y="5303520"/>
            <a:ext cx="111831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8989F"/>
                </a:solidFill>
                <a:latin typeface="PingFang SC" pitchFamily="34" charset="0"/>
                <a:ea typeface="PingFang SC"/>
                <a:ea typeface="PingFang SC" pitchFamily="34" charset="-122"/>
                <a:cs typeface="PingFang SC" pitchFamily="34" charset="-120"/>
              </a:rPr>
              <a:t>或从源码构建：git clone &amp;&amp; ./scripts/build-app.sh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ClipIsland 产品介绍</dc:title>
  <dc:subject>PptxGenJS Presentation</dc:subject>
  <dc:creator>Ziyue Zhang</dc:creator>
  <cp:lastModifiedBy>Ziyue Zhang</cp:lastModifiedBy>
  <cp:revision>1</cp:revision>
  <dcterms:created xsi:type="dcterms:W3CDTF">2026-10-27T16:18:15Z</dcterms:created>
  <dcterms:modified xsi:type="dcterms:W3CDTF">2026-10-27T16:18:15Z</dcterms:modified>
</cp:coreProperties>
</file>